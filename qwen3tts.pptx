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9" d="100"/>
          <a:sy n="119" d="100"/>
        </p:scale>
        <p:origin x="23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020754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C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162430"/>
          </a:solidFill>
          <a:ln w="12700">
            <a:solidFill>
              <a:srgbClr val="1624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65392" y="0"/>
            <a:ext cx="36576" cy="5143500"/>
          </a:xfrm>
          <a:prstGeom prst="rect">
            <a:avLst/>
          </a:prstGeom>
          <a:solidFill>
            <a:srgbClr val="4A9AB5"/>
          </a:solidFill>
          <a:ln w="12700">
            <a:solidFill>
              <a:srgbClr val="4A9AB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4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KGP TALKIE  ·  DEEP DIVE SERIES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5943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Qwen3-TTS</a:t>
            </a:r>
            <a:endParaRPr lang="en-US" sz="5800" dirty="0"/>
          </a:p>
        </p:txBody>
      </p:sp>
      <p:sp>
        <p:nvSpPr>
          <p:cNvPr id="6" name="Text 4"/>
          <p:cNvSpPr/>
          <p:nvPr/>
        </p:nvSpPr>
        <p:spPr>
          <a:xfrm>
            <a:off x="457200" y="1965960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6DB8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 &amp; Internals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57200" y="2697480"/>
            <a:ext cx="1371600" cy="0"/>
          </a:xfrm>
          <a:prstGeom prst="line">
            <a:avLst/>
          </a:prstGeom>
          <a:noFill/>
          <a:ln w="19050">
            <a:solidFill>
              <a:srgbClr val="4A9AB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834640"/>
            <a:ext cx="594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AA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text tokens to speech waveforms — a complete technical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AA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walkthrough of Alibaba's open-source speech LM family.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3822192"/>
            <a:ext cx="1444752" cy="292608"/>
          </a:xfrm>
          <a:prstGeom prst="rect">
            <a:avLst/>
          </a:prstGeom>
          <a:solidFill>
            <a:srgbClr val="1E3040"/>
          </a:solidFill>
          <a:ln w="8890">
            <a:solidFill>
              <a:srgbClr val="2E4F6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822192"/>
            <a:ext cx="1444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D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 2601.15621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993392" y="3822192"/>
            <a:ext cx="1444752" cy="292608"/>
          </a:xfrm>
          <a:prstGeom prst="rect">
            <a:avLst/>
          </a:prstGeom>
          <a:solidFill>
            <a:srgbClr val="1E3040"/>
          </a:solidFill>
          <a:ln w="8890">
            <a:solidFill>
              <a:srgbClr val="2E4F6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93392" y="3822192"/>
            <a:ext cx="1444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D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2026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529584" y="3822192"/>
            <a:ext cx="1444752" cy="292608"/>
          </a:xfrm>
          <a:prstGeom prst="rect">
            <a:avLst/>
          </a:prstGeom>
          <a:solidFill>
            <a:srgbClr val="1E3040"/>
          </a:solidFill>
          <a:ln w="8890">
            <a:solidFill>
              <a:srgbClr val="2E4F6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29584" y="3822192"/>
            <a:ext cx="1444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D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2.0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065776" y="3822192"/>
            <a:ext cx="1444752" cy="292608"/>
          </a:xfrm>
          <a:prstGeom prst="rect">
            <a:avLst/>
          </a:prstGeom>
          <a:solidFill>
            <a:srgbClr val="1E3040"/>
          </a:solidFill>
          <a:ln w="8890">
            <a:solidFill>
              <a:srgbClr val="2E4F6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65776" y="3822192"/>
            <a:ext cx="1444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D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0.6B / 1.7B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C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182880"/>
            <a:ext cx="1463040" cy="256032"/>
          </a:xfrm>
          <a:prstGeom prst="rect">
            <a:avLst/>
          </a:prstGeom>
          <a:solidFill>
            <a:srgbClr val="4A9AB5"/>
          </a:solidFill>
          <a:ln w="12700">
            <a:solidFill>
              <a:srgbClr val="4A9AB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828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F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4864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Qwen3-TTS?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8321040" cy="0"/>
          </a:xfrm>
          <a:prstGeom prst="line">
            <a:avLst/>
          </a:prstGeom>
          <a:noFill/>
          <a:ln w="15240">
            <a:solidFill>
              <a:srgbClr val="4A9AB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325880"/>
            <a:ext cx="8321040" cy="685800"/>
          </a:xfrm>
          <a:prstGeom prst="rect">
            <a:avLst/>
          </a:prstGeom>
          <a:solidFill>
            <a:srgbClr val="4A9AB5"/>
          </a:solidFill>
          <a:ln w="10160">
            <a:solidFill>
              <a:srgbClr val="4A9AB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371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idea: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691640" y="1371600"/>
            <a:ext cx="6903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Qwen3-TTS takes a pretrained Qwen3 LLM and teaches it to generate speech tokens instead of word tokens. Same attention, same layers, same training recipe — just a different output vocabulary.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11480" y="2121408"/>
            <a:ext cx="2697480" cy="2724912"/>
          </a:xfrm>
          <a:prstGeom prst="rect">
            <a:avLst/>
          </a:prstGeom>
          <a:solidFill>
            <a:srgbClr val="1E3040"/>
          </a:solidFill>
          <a:ln w="10160">
            <a:solidFill>
              <a:srgbClr val="2E4F6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" y="2121408"/>
            <a:ext cx="54864" cy="2724912"/>
          </a:xfrm>
          <a:prstGeom prst="rect">
            <a:avLst/>
          </a:prstGeom>
          <a:solidFill>
            <a:srgbClr val="4A9AB5"/>
          </a:solidFill>
          <a:ln w="12700">
            <a:solidFill>
              <a:srgbClr val="4A9AB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6072" y="22128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6D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MADE IT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76072" y="2542032"/>
            <a:ext cx="23774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Alibaba Cloud's Qwen team. Released January 22, 2026 under Apache 2.0. Available on HuggingFace (QwenLM/Qwen3-TTS) and GitHub.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218688" y="2121408"/>
            <a:ext cx="2697480" cy="2724912"/>
          </a:xfrm>
          <a:prstGeom prst="rect">
            <a:avLst/>
          </a:prstGeom>
          <a:solidFill>
            <a:srgbClr val="1E3040"/>
          </a:solidFill>
          <a:ln w="10160">
            <a:solidFill>
              <a:srgbClr val="2E4F6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18688" y="2121408"/>
            <a:ext cx="54864" cy="2724912"/>
          </a:xfrm>
          <a:prstGeom prst="rect">
            <a:avLst/>
          </a:prstGeom>
          <a:solidFill>
            <a:srgbClr val="4A9AB5"/>
          </a:solidFill>
          <a:ln w="12700">
            <a:solidFill>
              <a:srgbClr val="4A9AB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83280" y="22128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6D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383280" y="2542032"/>
            <a:ext cx="23774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text → speech. Supports 10 languages, 3-second voice cloning, style control via natural language, and real-time streaming output.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025896" y="2121408"/>
            <a:ext cx="2697480" cy="2724912"/>
          </a:xfrm>
          <a:prstGeom prst="rect">
            <a:avLst/>
          </a:prstGeom>
          <a:solidFill>
            <a:srgbClr val="1E3040"/>
          </a:solidFill>
          <a:ln w="10160">
            <a:solidFill>
              <a:srgbClr val="2E4F6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25896" y="2121408"/>
            <a:ext cx="54864" cy="2724912"/>
          </a:xfrm>
          <a:prstGeom prst="rect">
            <a:avLst/>
          </a:prstGeom>
          <a:solidFill>
            <a:srgbClr val="4A9AB5"/>
          </a:solidFill>
          <a:ln w="12700">
            <a:solidFill>
              <a:srgbClr val="4A9AB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90488" y="22128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6D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190488" y="2542032"/>
            <a:ext cx="23774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open-weights TTS to ship both a pure-codec path (12Hz) and a flow-matching path (25Hz). Sub-100ms first packet. SOTA WER on Seed-TTS benchmarks.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24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A9AB5"/>
          </a:solidFill>
          <a:ln w="12700">
            <a:solidFill>
              <a:srgbClr val="4A9AB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0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0" dirty="0">
                <a:solidFill>
                  <a:srgbClr val="2438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422030" y="2656156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351692" y="3538025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8AA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Pipeline, dual-track input, and the transformer backbone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87974" y="2590038"/>
            <a:ext cx="2286000" cy="0"/>
          </a:xfrm>
          <a:prstGeom prst="line">
            <a:avLst/>
          </a:prstGeom>
          <a:noFill/>
          <a:ln w="19050">
            <a:solidFill>
              <a:srgbClr val="4A9AB5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C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182880"/>
            <a:ext cx="1463040" cy="256032"/>
          </a:xfrm>
          <a:prstGeom prst="rect">
            <a:avLst/>
          </a:prstGeom>
          <a:solidFill>
            <a:srgbClr val="4A9AB5"/>
          </a:solidFill>
          <a:ln w="12700">
            <a:solidFill>
              <a:srgbClr val="4A9AB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828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F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4864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end-to-end pipeline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8321040" cy="0"/>
          </a:xfrm>
          <a:prstGeom prst="line">
            <a:avLst/>
          </a:prstGeom>
          <a:noFill/>
          <a:ln w="15240">
            <a:solidFill>
              <a:srgbClr val="4A9AB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371600"/>
            <a:ext cx="1572768" cy="347472"/>
          </a:xfrm>
          <a:prstGeom prst="rect">
            <a:avLst/>
          </a:prstGeom>
          <a:solidFill>
            <a:srgbClr val="4A9AB5"/>
          </a:solidFill>
          <a:ln w="12700">
            <a:solidFill>
              <a:srgbClr val="4A9AB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389888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Text Input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11480" y="1719072"/>
            <a:ext cx="1572768" cy="2971800"/>
          </a:xfrm>
          <a:prstGeom prst="rect">
            <a:avLst/>
          </a:prstGeom>
          <a:solidFill>
            <a:srgbClr val="1E3040"/>
          </a:solidFill>
          <a:ln w="10160">
            <a:solidFill>
              <a:srgbClr val="4A9AB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1208" y="1828800"/>
            <a:ext cx="1371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text + voice instruction + optional reference audio — all formatted as a ChatML prompt.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984248" y="2606040"/>
            <a:ext cx="100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4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084832" y="1371600"/>
            <a:ext cx="1572768" cy="347472"/>
          </a:xfrm>
          <a:prstGeom prst="rect">
            <a:avLst/>
          </a:prstGeom>
          <a:solidFill>
            <a:srgbClr val="5A9AB5"/>
          </a:solidFill>
          <a:ln w="12700">
            <a:solidFill>
              <a:srgbClr val="5A9AB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76272" y="1389888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Dual-Track LM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084832" y="1719072"/>
            <a:ext cx="1572768" cy="2971800"/>
          </a:xfrm>
          <a:prstGeom prst="rect">
            <a:avLst/>
          </a:prstGeom>
          <a:solidFill>
            <a:srgbClr val="1E3040"/>
          </a:solidFill>
          <a:ln w="10160">
            <a:solidFill>
              <a:srgbClr val="5A9AB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194560" y="1828800"/>
            <a:ext cx="1371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Qwen3 Transformer generates discrete speech tokens autoregressively. Text and audio embeddings fused along the channel axis.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657600" y="2606040"/>
            <a:ext cx="100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4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758184" y="1371600"/>
            <a:ext cx="1572768" cy="347472"/>
          </a:xfrm>
          <a:prstGeom prst="rect">
            <a:avLst/>
          </a:prstGeom>
          <a:solidFill>
            <a:srgbClr val="4A8AA5"/>
          </a:solidFill>
          <a:ln w="12700">
            <a:solidFill>
              <a:srgbClr val="4A8AA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9624" y="1389888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MTP Head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758184" y="1719072"/>
            <a:ext cx="1572768" cy="2971800"/>
          </a:xfrm>
          <a:prstGeom prst="rect">
            <a:avLst/>
          </a:prstGeom>
          <a:solidFill>
            <a:srgbClr val="1E3040"/>
          </a:solidFill>
          <a:ln w="10160">
            <a:solidFill>
              <a:srgbClr val="4A8AA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67912" y="1828800"/>
            <a:ext cx="1371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the 15 residual acoustic codebooks in parallel for each frame — only 1 LM forward pass per frame needed.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330952" y="2606040"/>
            <a:ext cx="100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4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431536" y="1371600"/>
            <a:ext cx="1572768" cy="347472"/>
          </a:xfrm>
          <a:prstGeom prst="rect">
            <a:avLst/>
          </a:prstGeom>
          <a:solidFill>
            <a:srgbClr val="3A7A95"/>
          </a:solidFill>
          <a:ln w="12700">
            <a:solidFill>
              <a:srgbClr val="3A7A9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522976" y="1389888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Codec Decoder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431536" y="1719072"/>
            <a:ext cx="1572768" cy="2971800"/>
          </a:xfrm>
          <a:prstGeom prst="rect">
            <a:avLst/>
          </a:prstGeom>
          <a:solidFill>
            <a:srgbClr val="1E3040"/>
          </a:solidFill>
          <a:ln w="10160">
            <a:solidFill>
              <a:srgbClr val="3A7A9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41264" y="1828800"/>
            <a:ext cx="1371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12Hz path: lightweight causal ConvNet → 24kHz audio. 25Hz path: Flow-Matching DiT + BigVGAN → 24kHz audio.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7004304" y="2606040"/>
            <a:ext cx="100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4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104888" y="1371600"/>
            <a:ext cx="1572768" cy="347472"/>
          </a:xfrm>
          <a:prstGeom prst="rect">
            <a:avLst/>
          </a:prstGeom>
          <a:solidFill>
            <a:srgbClr val="2A6A85"/>
          </a:solidFill>
          <a:ln w="12700">
            <a:solidFill>
              <a:srgbClr val="2A6A8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196328" y="1389888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Audio Output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7104888" y="1719072"/>
            <a:ext cx="1572768" cy="2971800"/>
          </a:xfrm>
          <a:prstGeom prst="rect">
            <a:avLst/>
          </a:prstGeom>
          <a:solidFill>
            <a:srgbClr val="1E3040"/>
          </a:solidFill>
          <a:ln w="10160">
            <a:solidFill>
              <a:srgbClr val="2A6A8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214616" y="1828800"/>
            <a:ext cx="1371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Streamed audio chunks. First packet in 97ms (0.6B model). Each token = 80ms of audio at 12.5Hz.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C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182880"/>
            <a:ext cx="1463040" cy="256032"/>
          </a:xfrm>
          <a:prstGeom prst="rect">
            <a:avLst/>
          </a:prstGeom>
          <a:solidFill>
            <a:srgbClr val="4A9AB5"/>
          </a:solidFill>
          <a:ln w="12700">
            <a:solidFill>
              <a:srgbClr val="4A9AB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828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F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INNOVATION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4864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dual-track input trick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8321040" cy="0"/>
          </a:xfrm>
          <a:prstGeom prst="line">
            <a:avLst/>
          </a:prstGeom>
          <a:noFill/>
          <a:ln w="15240">
            <a:solidFill>
              <a:srgbClr val="4A9AB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3716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D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it matter?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719072"/>
            <a:ext cx="4023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innovation is HOW text and audio tokens are combined before the transformer. This determines whether audio can start streaming immediately or must wait.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11480" y="2468880"/>
            <a:ext cx="4023360" cy="1097280"/>
          </a:xfrm>
          <a:prstGeom prst="rect">
            <a:avLst/>
          </a:prstGeom>
          <a:solidFill>
            <a:srgbClr val="1E3040"/>
          </a:solidFill>
          <a:ln w="10160">
            <a:solidFill>
              <a:srgbClr val="2E4F6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2468880"/>
            <a:ext cx="54864" cy="10972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6072" y="25603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FF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OLD WAY — VALL-E Style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76072" y="2852928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Concatenate text tokens THEN audio tokens along the TIME axis.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 = concat([text_tokens, audio_tokens], dim=0)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Model must read ALL text before emitting any audio.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High first-packet latency.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11480" y="3657600"/>
            <a:ext cx="4023360" cy="1485900"/>
          </a:xfrm>
          <a:prstGeom prst="rect">
            <a:avLst/>
          </a:prstGeom>
          <a:solidFill>
            <a:srgbClr val="1E3040"/>
          </a:solidFill>
          <a:ln w="10160">
            <a:solidFill>
              <a:srgbClr val="2E4F6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11480" y="3657600"/>
            <a:ext cx="54864" cy="1261872"/>
          </a:xfrm>
          <a:prstGeom prst="rect">
            <a:avLst/>
          </a:prstGeom>
          <a:solidFill>
            <a:srgbClr val="5AB88A"/>
          </a:solidFill>
          <a:ln w="12700">
            <a:solidFill>
              <a:srgbClr val="5AB8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6072" y="37490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90E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NEW WAY — Dual-Track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76072" y="4120779"/>
            <a:ext cx="3749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text and audio embeddings along the CHANNEL axis at every frame.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text_proj  = Linear(text_emb, hidden_dim)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audio_proj = Linear(audio_emb, hidden_dim)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fused = text_proj + audio_proj  # shape: [T, hidden]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Emits audio starting from frame t=1 → 97ms first packet!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17720" y="1371600"/>
            <a:ext cx="4114800" cy="3547872"/>
          </a:xfrm>
          <a:prstGeom prst="rect">
            <a:avLst/>
          </a:prstGeom>
          <a:solidFill>
            <a:srgbClr val="1E3040"/>
          </a:solidFill>
          <a:ln w="10160">
            <a:solidFill>
              <a:srgbClr val="2E4F6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0600" y="148132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D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comparison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00600" y="184708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(time axis concat):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00600" y="2121408"/>
            <a:ext cx="548640" cy="320040"/>
          </a:xfrm>
          <a:prstGeom prst="rect">
            <a:avLst/>
          </a:prstGeom>
          <a:solidFill>
            <a:srgbClr val="36454F"/>
          </a:solidFill>
          <a:ln w="6350">
            <a:solidFill>
              <a:srgbClr val="4A9AB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00600" y="212140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440680" y="2121408"/>
            <a:ext cx="548640" cy="320040"/>
          </a:xfrm>
          <a:prstGeom prst="rect">
            <a:avLst/>
          </a:prstGeom>
          <a:solidFill>
            <a:srgbClr val="36454F"/>
          </a:solidFill>
          <a:ln w="6350">
            <a:solidFill>
              <a:srgbClr val="4A9AB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40680" y="212140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080760" y="2121408"/>
            <a:ext cx="548640" cy="320040"/>
          </a:xfrm>
          <a:prstGeom prst="rect">
            <a:avLst/>
          </a:prstGeom>
          <a:solidFill>
            <a:srgbClr val="36454F"/>
          </a:solidFill>
          <a:ln w="6350">
            <a:solidFill>
              <a:srgbClr val="4A9AB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80760" y="212140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720840" y="2121408"/>
            <a:ext cx="548640" cy="320040"/>
          </a:xfrm>
          <a:prstGeom prst="rect">
            <a:avLst/>
          </a:prstGeom>
          <a:solidFill>
            <a:srgbClr val="36454F"/>
          </a:solidFill>
          <a:ln w="6350">
            <a:solidFill>
              <a:srgbClr val="4A9AB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20840" y="212140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T4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360920" y="2121408"/>
            <a:ext cx="548640" cy="320040"/>
          </a:xfrm>
          <a:prstGeom prst="rect">
            <a:avLst/>
          </a:prstGeom>
          <a:solidFill>
            <a:srgbClr val="36454F"/>
          </a:solidFill>
          <a:ln w="6350">
            <a:solidFill>
              <a:srgbClr val="4A9AB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60920" y="212140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T5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800600" y="2487168"/>
            <a:ext cx="548640" cy="320040"/>
          </a:xfrm>
          <a:prstGeom prst="rect">
            <a:avLst/>
          </a:prstGeom>
          <a:solidFill>
            <a:srgbClr val="2E6080"/>
          </a:solidFill>
          <a:ln w="6350">
            <a:solidFill>
              <a:srgbClr val="6DB8D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00600" y="248716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440680" y="2487168"/>
            <a:ext cx="548640" cy="320040"/>
          </a:xfrm>
          <a:prstGeom prst="rect">
            <a:avLst/>
          </a:prstGeom>
          <a:solidFill>
            <a:srgbClr val="2E6080"/>
          </a:solidFill>
          <a:ln w="6350">
            <a:solidFill>
              <a:srgbClr val="6DB8D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40680" y="248716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080760" y="2487168"/>
            <a:ext cx="548640" cy="320040"/>
          </a:xfrm>
          <a:prstGeom prst="rect">
            <a:avLst/>
          </a:prstGeom>
          <a:solidFill>
            <a:srgbClr val="2E6080"/>
          </a:solidFill>
          <a:ln w="6350">
            <a:solidFill>
              <a:srgbClr val="6DB8D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080760" y="248716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A3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720840" y="2487168"/>
            <a:ext cx="548640" cy="320040"/>
          </a:xfrm>
          <a:prstGeom prst="rect">
            <a:avLst/>
          </a:prstGeom>
          <a:solidFill>
            <a:srgbClr val="2E6080"/>
          </a:solidFill>
          <a:ln w="6350">
            <a:solidFill>
              <a:srgbClr val="6DB8D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720840" y="248716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A4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7360920" y="2487168"/>
            <a:ext cx="548640" cy="320040"/>
          </a:xfrm>
          <a:prstGeom prst="rect">
            <a:avLst/>
          </a:prstGeom>
          <a:solidFill>
            <a:srgbClr val="2E6080"/>
          </a:solidFill>
          <a:ln w="6350">
            <a:solidFill>
              <a:srgbClr val="6DB8D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360920" y="248716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A5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800600" y="285292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FF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T1…T5 must ALL complete before A1 can start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800600" y="321868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0E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(channel axis fuse):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800600" y="3493008"/>
            <a:ext cx="548640" cy="475488"/>
          </a:xfrm>
          <a:prstGeom prst="rect">
            <a:avLst/>
          </a:prstGeom>
          <a:solidFill>
            <a:srgbClr val="1E5070"/>
          </a:solidFill>
          <a:ln w="6350">
            <a:solidFill>
              <a:srgbClr val="6DB8D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00600" y="3493008"/>
            <a:ext cx="548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T1+A1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5440680" y="3493008"/>
            <a:ext cx="548640" cy="475488"/>
          </a:xfrm>
          <a:prstGeom prst="rect">
            <a:avLst/>
          </a:prstGeom>
          <a:solidFill>
            <a:srgbClr val="1E5070"/>
          </a:solidFill>
          <a:ln w="6350">
            <a:solidFill>
              <a:srgbClr val="6DB8D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440680" y="3493008"/>
            <a:ext cx="548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T2+A2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6080760" y="3493008"/>
            <a:ext cx="548640" cy="475488"/>
          </a:xfrm>
          <a:prstGeom prst="rect">
            <a:avLst/>
          </a:prstGeom>
          <a:solidFill>
            <a:srgbClr val="1E5070"/>
          </a:solidFill>
          <a:ln w="6350">
            <a:solidFill>
              <a:srgbClr val="6DB8D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080760" y="3493008"/>
            <a:ext cx="548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T3+A3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6720840" y="3493008"/>
            <a:ext cx="548640" cy="475488"/>
          </a:xfrm>
          <a:prstGeom prst="rect">
            <a:avLst/>
          </a:prstGeom>
          <a:solidFill>
            <a:srgbClr val="1E5070"/>
          </a:solidFill>
          <a:ln w="6350">
            <a:solidFill>
              <a:srgbClr val="6DB8D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720840" y="3493008"/>
            <a:ext cx="548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T4+A4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7360920" y="3493008"/>
            <a:ext cx="548640" cy="475488"/>
          </a:xfrm>
          <a:prstGeom prst="rect">
            <a:avLst/>
          </a:prstGeom>
          <a:solidFill>
            <a:srgbClr val="1E5070"/>
          </a:solidFill>
          <a:ln w="6350">
            <a:solidFill>
              <a:srgbClr val="6DB8D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360920" y="3493008"/>
            <a:ext cx="548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T5+A5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4800600" y="402336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0E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frame fused immediately → audio starts at frame 1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4800600" y="437083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97ms first-packet latency (0.6B) vs hundreds of ms for VALL-E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C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182880"/>
            <a:ext cx="1463040" cy="256032"/>
          </a:xfrm>
          <a:prstGeom prst="rect">
            <a:avLst/>
          </a:prstGeom>
          <a:solidFill>
            <a:srgbClr val="4A9AB5"/>
          </a:solidFill>
          <a:ln w="12700">
            <a:solidFill>
              <a:srgbClr val="4A9AB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828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F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BACKBONE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4864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Qwen3 transformer backbone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8321040" cy="0"/>
          </a:xfrm>
          <a:prstGeom prst="line">
            <a:avLst/>
          </a:prstGeom>
          <a:noFill/>
          <a:ln w="15240">
            <a:solidFill>
              <a:srgbClr val="4A9AB5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371600"/>
          <a:ext cx="4206240" cy="3291840"/>
        </p:xfrm>
        <a:graphic>
          <a:graphicData uri="http://schemas.openxmlformats.org/drawingml/2006/table">
            <a:tbl>
              <a:tblPr/>
              <a:tblGrid>
                <a:gridCol w="1402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2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2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F1C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9AB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F1C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1.7B Model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9AB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F1C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0.6B Model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9AB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8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Transformer layers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8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8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8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Hidden size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8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2048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8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1024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8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Query heads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8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8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8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KV heads (GQA)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8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8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8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Positional encoding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8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RoPE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8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RoPE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8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Normalization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8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RMSNorm + QK-Norm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8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RMSNorm + QK-Norm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8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8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SwiGLU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8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SwiGLU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8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Context length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8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32,768 tokens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8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32,768 tokens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8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 format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8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ChatML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8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ChatML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6" name="Shape 4"/>
          <p:cNvSpPr/>
          <p:nvPr/>
        </p:nvSpPr>
        <p:spPr>
          <a:xfrm>
            <a:off x="4800600" y="1371600"/>
            <a:ext cx="3931920" cy="804672"/>
          </a:xfrm>
          <a:prstGeom prst="rect">
            <a:avLst/>
          </a:prstGeom>
          <a:solidFill>
            <a:srgbClr val="1E3040"/>
          </a:solidFill>
          <a:ln w="10160">
            <a:solidFill>
              <a:srgbClr val="2E4F6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800600" y="1371600"/>
            <a:ext cx="54864" cy="804672"/>
          </a:xfrm>
          <a:prstGeom prst="rect">
            <a:avLst/>
          </a:prstGeom>
          <a:solidFill>
            <a:srgbClr val="4A9AB5"/>
          </a:solidFill>
          <a:ln w="12700">
            <a:solidFill>
              <a:srgbClr val="4A9AB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965192" y="14630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6D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GQA — Grouped Query Attention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4965192" y="175564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Q-heads share only 8 KV-heads. Halves KV-cache memory — critical for streaming where the cache grows with every audio frame emitted in real-time.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800600" y="2258568"/>
            <a:ext cx="3931920" cy="804672"/>
          </a:xfrm>
          <a:prstGeom prst="rect">
            <a:avLst/>
          </a:prstGeom>
          <a:solidFill>
            <a:srgbClr val="1E3040"/>
          </a:solidFill>
          <a:ln w="10160">
            <a:solidFill>
              <a:srgbClr val="2E4F6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800600" y="2258568"/>
            <a:ext cx="54864" cy="804672"/>
          </a:xfrm>
          <a:prstGeom prst="rect">
            <a:avLst/>
          </a:prstGeom>
          <a:solidFill>
            <a:srgbClr val="4A9AB5"/>
          </a:solidFill>
          <a:ln w="12700">
            <a:solidFill>
              <a:srgbClr val="4A9AB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965192" y="235000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6D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QK-Norm — new in Qwen3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4965192" y="2642616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RMSNorm applied to Q and K before the dot-product. Stabilises bfloat16 training across the full 5M-hour speech corpus without gradient explosions.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4800600" y="3145536"/>
            <a:ext cx="3931920" cy="804672"/>
          </a:xfrm>
          <a:prstGeom prst="rect">
            <a:avLst/>
          </a:prstGeom>
          <a:solidFill>
            <a:srgbClr val="1E3040"/>
          </a:solidFill>
          <a:ln w="10160">
            <a:solidFill>
              <a:srgbClr val="2E4F6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800600" y="3145536"/>
            <a:ext cx="54864" cy="804672"/>
          </a:xfrm>
          <a:prstGeom prst="rect">
            <a:avLst/>
          </a:prstGeom>
          <a:solidFill>
            <a:srgbClr val="4A9AB5"/>
          </a:solidFill>
          <a:ln w="12700">
            <a:solidFill>
              <a:srgbClr val="4A9AB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965192" y="323697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6D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RoPE — Rotary Position Encoding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4965192" y="3529584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baked into Q/K via complex-number rotation. Handles mixed text+audio sequences naturally and extends from 8K to 32K context length.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4800600" y="4032503"/>
            <a:ext cx="3931920" cy="899981"/>
          </a:xfrm>
          <a:prstGeom prst="rect">
            <a:avLst/>
          </a:prstGeom>
          <a:solidFill>
            <a:srgbClr val="1E3040"/>
          </a:solidFill>
          <a:ln w="10160">
            <a:solidFill>
              <a:srgbClr val="2E4F6A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800600" y="4032504"/>
            <a:ext cx="54864" cy="804672"/>
          </a:xfrm>
          <a:prstGeom prst="rect">
            <a:avLst/>
          </a:prstGeom>
          <a:solidFill>
            <a:srgbClr val="4A9AB5"/>
          </a:solidFill>
          <a:ln w="12700">
            <a:solidFill>
              <a:srgbClr val="4A9AB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965192" y="412394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6D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ChatML Input Format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4965192" y="441655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Text, voice instructions, and reference audio clips all arrive as system/user/assistant chat turns. Instruction-following is inherited from LLM pretraining at zero extra cost.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24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A9AB5"/>
          </a:solidFill>
          <a:ln w="12700">
            <a:solidFill>
              <a:srgbClr val="4A9AB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0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0" dirty="0">
                <a:solidFill>
                  <a:srgbClr val="2438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413238" y="2600325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Codebooks &amp; MTP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3445703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8AA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speech tokens are structured and predicted efficiently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53915" y="2655277"/>
            <a:ext cx="2286000" cy="0"/>
          </a:xfrm>
          <a:prstGeom prst="line">
            <a:avLst/>
          </a:prstGeom>
          <a:noFill/>
          <a:ln w="19050">
            <a:solidFill>
              <a:srgbClr val="4A9AB5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C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182880"/>
            <a:ext cx="1463040" cy="256032"/>
          </a:xfrm>
          <a:prstGeom prst="rect">
            <a:avLst/>
          </a:prstGeom>
          <a:solidFill>
            <a:srgbClr val="4A9AB5"/>
          </a:solidFill>
          <a:ln w="12700">
            <a:solidFill>
              <a:srgbClr val="4A9AB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828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F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 TOKENS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11480" y="43891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Speech tokenisation — 12Hz RVQ codec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8321040" cy="0"/>
          </a:xfrm>
          <a:prstGeom prst="line">
            <a:avLst/>
          </a:prstGeom>
          <a:noFill/>
          <a:ln w="15240">
            <a:solidFill>
              <a:srgbClr val="4A9AB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41732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D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Codebook Stack (per frame)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11480" y="1783080"/>
            <a:ext cx="4114800" cy="658368"/>
          </a:xfrm>
          <a:prstGeom prst="rect">
            <a:avLst/>
          </a:prstGeom>
          <a:solidFill>
            <a:srgbClr val="4A9AB5"/>
          </a:solidFill>
          <a:ln w="10160">
            <a:solidFill>
              <a:srgbClr val="6DB8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81051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CODEBOOK 0  —  SEMANTIC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208483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2,048 codes  ·  WavLM distilled  ·  captures WHAT is said (phoneme identity)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11480" y="2487168"/>
            <a:ext cx="4114800" cy="160020"/>
          </a:xfrm>
          <a:prstGeom prst="rect">
            <a:avLst/>
          </a:prstGeom>
          <a:solidFill>
            <a:srgbClr val="1E505F"/>
          </a:solidFill>
          <a:ln w="3810">
            <a:solidFill>
              <a:srgbClr val="2E4F6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" y="2496312"/>
            <a:ext cx="32004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CB-1  acoustic residual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11480" y="2665476"/>
            <a:ext cx="4114800" cy="160020"/>
          </a:xfrm>
          <a:prstGeom prst="rect">
            <a:avLst/>
          </a:prstGeom>
          <a:solidFill>
            <a:srgbClr val="265663"/>
          </a:solidFill>
          <a:ln w="3810">
            <a:solidFill>
              <a:srgbClr val="2E4F6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2674620"/>
            <a:ext cx="32004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CB-2  acoustic residual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11480" y="2843784"/>
            <a:ext cx="4114800" cy="160020"/>
          </a:xfrm>
          <a:prstGeom prst="rect">
            <a:avLst/>
          </a:prstGeom>
          <a:solidFill>
            <a:srgbClr val="2E5C67"/>
          </a:solidFill>
          <a:ln w="3810">
            <a:solidFill>
              <a:srgbClr val="2E4F6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" y="2852928"/>
            <a:ext cx="32004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CB-3  acoustic residual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11480" y="3022092"/>
            <a:ext cx="4114800" cy="160020"/>
          </a:xfrm>
          <a:prstGeom prst="rect">
            <a:avLst/>
          </a:prstGeom>
          <a:solidFill>
            <a:srgbClr val="36626B"/>
          </a:solidFill>
          <a:ln w="3810">
            <a:solidFill>
              <a:srgbClr val="2E4F6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1480" y="3200400"/>
            <a:ext cx="4114800" cy="160020"/>
          </a:xfrm>
          <a:prstGeom prst="rect">
            <a:avLst/>
          </a:prstGeom>
          <a:solidFill>
            <a:srgbClr val="3E686F"/>
          </a:solidFill>
          <a:ln w="3810">
            <a:solidFill>
              <a:srgbClr val="2E4F6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11480" y="3378708"/>
            <a:ext cx="4114800" cy="160020"/>
          </a:xfrm>
          <a:prstGeom prst="rect">
            <a:avLst/>
          </a:prstGeom>
          <a:solidFill>
            <a:srgbClr val="466E73"/>
          </a:solidFill>
          <a:ln w="3810">
            <a:solidFill>
              <a:srgbClr val="2E4F6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1480" y="3557016"/>
            <a:ext cx="4114800" cy="160020"/>
          </a:xfrm>
          <a:prstGeom prst="rect">
            <a:avLst/>
          </a:prstGeom>
          <a:solidFill>
            <a:srgbClr val="4E7477"/>
          </a:solidFill>
          <a:ln w="3810">
            <a:solidFill>
              <a:srgbClr val="2E4F6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11480" y="3735324"/>
            <a:ext cx="4114800" cy="160020"/>
          </a:xfrm>
          <a:prstGeom prst="rect">
            <a:avLst/>
          </a:prstGeom>
          <a:solidFill>
            <a:srgbClr val="567A7B"/>
          </a:solidFill>
          <a:ln w="3810">
            <a:solidFill>
              <a:srgbClr val="2E4F6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0352" y="3744468"/>
            <a:ext cx="32004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⋮  CBs 4-14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11480" y="3913632"/>
            <a:ext cx="4114800" cy="160020"/>
          </a:xfrm>
          <a:prstGeom prst="rect">
            <a:avLst/>
          </a:prstGeom>
          <a:solidFill>
            <a:srgbClr val="5E807F"/>
          </a:solidFill>
          <a:ln w="3810">
            <a:solidFill>
              <a:srgbClr val="2E4F6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11480" y="4091940"/>
            <a:ext cx="4114800" cy="160020"/>
          </a:xfrm>
          <a:prstGeom prst="rect">
            <a:avLst/>
          </a:prstGeom>
          <a:solidFill>
            <a:srgbClr val="668683"/>
          </a:solidFill>
          <a:ln w="3810">
            <a:solidFill>
              <a:srgbClr val="2E4F6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11480" y="4270248"/>
            <a:ext cx="4114800" cy="160020"/>
          </a:xfrm>
          <a:prstGeom prst="rect">
            <a:avLst/>
          </a:prstGeom>
          <a:solidFill>
            <a:srgbClr val="6E8C87"/>
          </a:solidFill>
          <a:ln w="3810">
            <a:solidFill>
              <a:srgbClr val="2E4F6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11480" y="4448556"/>
            <a:ext cx="4114800" cy="160020"/>
          </a:xfrm>
          <a:prstGeom prst="rect">
            <a:avLst/>
          </a:prstGeom>
          <a:solidFill>
            <a:srgbClr val="76928B"/>
          </a:solidFill>
          <a:ln w="3810">
            <a:solidFill>
              <a:srgbClr val="2E4F6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11480" y="4626864"/>
            <a:ext cx="4114800" cy="160020"/>
          </a:xfrm>
          <a:prstGeom prst="rect">
            <a:avLst/>
          </a:prstGeom>
          <a:solidFill>
            <a:srgbClr val="7E988F"/>
          </a:solidFill>
          <a:ln w="3810">
            <a:solidFill>
              <a:srgbClr val="2E4F6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11480" y="4805172"/>
            <a:ext cx="4114800" cy="160020"/>
          </a:xfrm>
          <a:prstGeom prst="rect">
            <a:avLst/>
          </a:prstGeom>
          <a:solidFill>
            <a:srgbClr val="869E93"/>
          </a:solidFill>
          <a:ln w="3810">
            <a:solidFill>
              <a:srgbClr val="2E4F6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11480" y="4983480"/>
            <a:ext cx="4114800" cy="160020"/>
          </a:xfrm>
          <a:prstGeom prst="rect">
            <a:avLst/>
          </a:prstGeom>
          <a:solidFill>
            <a:srgbClr val="8EA497"/>
          </a:solidFill>
          <a:ln w="3810">
            <a:solidFill>
              <a:srgbClr val="2E4F6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0352" y="4992624"/>
            <a:ext cx="32004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CB-15  finest grain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11480" y="1278929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AA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12.5 frames/sec  ·  16 codebooks × 2,048 codes each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736592" y="1371600"/>
            <a:ext cx="3995928" cy="1143000"/>
          </a:xfrm>
          <a:prstGeom prst="rect">
            <a:avLst/>
          </a:prstGeom>
          <a:solidFill>
            <a:srgbClr val="1E3040"/>
          </a:solidFill>
          <a:ln w="10160">
            <a:solidFill>
              <a:srgbClr val="2E4F6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36592" y="1371600"/>
            <a:ext cx="54864" cy="1143000"/>
          </a:xfrm>
          <a:prstGeom prst="rect">
            <a:avLst/>
          </a:prstGeom>
          <a:solidFill>
            <a:srgbClr val="4A9AB5"/>
          </a:solidFill>
          <a:ln w="12700">
            <a:solidFill>
              <a:srgbClr val="4A9AB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01184" y="1463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6D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2-tier (semantic + acoustic)?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901184" y="1783080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Purely semantic codes (like BPE tokens) are not expressive enough for speech. Purely acoustic codes inject too much low-level detail for an LLM to model. The 2-tier design gives the LM a tractable job (model semantics in CB-0), while the residuals handle expressiveness.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736592" y="2606040"/>
            <a:ext cx="3995928" cy="1143000"/>
          </a:xfrm>
          <a:prstGeom prst="rect">
            <a:avLst/>
          </a:prstGeom>
          <a:solidFill>
            <a:srgbClr val="1E3040"/>
          </a:solidFill>
          <a:ln w="10160">
            <a:solidFill>
              <a:srgbClr val="2E4F6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736592" y="2606040"/>
            <a:ext cx="54864" cy="1143000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01184" y="2697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6D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WavLM distillation do?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901184" y="3017520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CB-0 is trained with cosine similarity loss against WavLM embeddings. WavLM was pretrained on masked speech prediction, so its representations encode phoneme identity. CB-0 therefore captures WHAT is being said, not HOW it sounds.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736592" y="3840480"/>
            <a:ext cx="3995928" cy="1143000"/>
          </a:xfrm>
          <a:prstGeom prst="rect">
            <a:avLst/>
          </a:prstGeom>
          <a:solidFill>
            <a:srgbClr val="1E3040"/>
          </a:solidFill>
          <a:ln w="10160">
            <a:solidFill>
              <a:srgbClr val="2E4F6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736592" y="3840480"/>
            <a:ext cx="54864" cy="1143000"/>
          </a:xfrm>
          <a:prstGeom prst="rect">
            <a:avLst/>
          </a:prstGeom>
          <a:solidFill>
            <a:srgbClr val="5A9090"/>
          </a:solidFill>
          <a:ln w="12700">
            <a:solidFill>
              <a:srgbClr val="5A909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01184" y="3931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6D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CBs 1–15 capture?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901184" y="4251960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residual codebook captures what the previous one missed — progressively finer acoustic detail: pitch contour → timbre → breath → fine grain noise. Together they reconstruct the full waveform quality at reconstruction PESQ-WB 3.21, STOI 0.96.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C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182880"/>
            <a:ext cx="1463040" cy="256032"/>
          </a:xfrm>
          <a:prstGeom prst="rect">
            <a:avLst/>
          </a:prstGeom>
          <a:solidFill>
            <a:srgbClr val="4A9AB5"/>
          </a:solidFill>
          <a:ln w="12700">
            <a:solidFill>
              <a:srgbClr val="4A9AB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828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F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MTP HEAD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438912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MTP Head — parallel codebook prediction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11480" y="1005840"/>
            <a:ext cx="8321040" cy="0"/>
          </a:xfrm>
          <a:prstGeom prst="line">
            <a:avLst/>
          </a:prstGeom>
          <a:noFill/>
          <a:ln w="15240">
            <a:solidFill>
              <a:srgbClr val="4A9AB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3716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11480" y="1664208"/>
            <a:ext cx="4114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12Hz codec produces 16 codebooks per frame. If the LM predicted all 16 autoregressively, it would need 16 forward passes per frame — far too slow for real-time.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11480" y="22860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AB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solution: MTP Head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11480" y="2578608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LM predicts only CB-0 (semantic). A lightweight Multi-Token Prediction head then predicts CBs 1–15 in parallel, each conditioned on the ones below it.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11480" y="3154680"/>
            <a:ext cx="914400" cy="749808"/>
          </a:xfrm>
          <a:prstGeom prst="rect">
            <a:avLst/>
          </a:prstGeom>
          <a:solidFill>
            <a:srgbClr val="162430"/>
          </a:solidFill>
          <a:ln w="10160">
            <a:solidFill>
              <a:srgbClr val="4A9AB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3154680"/>
            <a:ext cx="914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Decoder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325880" y="3401568"/>
            <a:ext cx="137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463040" y="3154680"/>
            <a:ext cx="914400" cy="749808"/>
          </a:xfrm>
          <a:prstGeom prst="rect">
            <a:avLst/>
          </a:prstGeom>
          <a:solidFill>
            <a:srgbClr val="1E3040"/>
          </a:solidFill>
          <a:ln w="10160">
            <a:solidFill>
              <a:srgbClr val="6DB8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463040" y="3154680"/>
            <a:ext cx="914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CB-0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377440" y="3401568"/>
            <a:ext cx="137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514600" y="3154680"/>
            <a:ext cx="914400" cy="749808"/>
          </a:xfrm>
          <a:prstGeom prst="rect">
            <a:avLst/>
          </a:prstGeom>
          <a:solidFill>
            <a:srgbClr val="1E3040"/>
          </a:solidFill>
          <a:ln w="10160">
            <a:solidFill>
              <a:srgbClr val="6DB8D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14600" y="3154680"/>
            <a:ext cx="914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MTP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429000" y="3401568"/>
            <a:ext cx="137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566160" y="3154680"/>
            <a:ext cx="914400" cy="749808"/>
          </a:xfrm>
          <a:prstGeom prst="rect">
            <a:avLst/>
          </a:prstGeom>
          <a:solidFill>
            <a:srgbClr val="243850"/>
          </a:solidFill>
          <a:ln w="10160">
            <a:solidFill>
              <a:srgbClr val="E8B84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66160" y="3154680"/>
            <a:ext cx="914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 1–15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(parallel)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11480" y="4005072"/>
            <a:ext cx="4114800" cy="914400"/>
          </a:xfrm>
          <a:prstGeom prst="rect">
            <a:avLst/>
          </a:prstGeom>
          <a:solidFill>
            <a:srgbClr val="1E3040"/>
          </a:solidFill>
          <a:ln w="10160">
            <a:solidFill>
              <a:srgbClr val="2E4F6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11480" y="4005072"/>
            <a:ext cx="54864" cy="914400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6072" y="409651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 saved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76072" y="4389120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MTP: 16 LM passes per frame = O(16 × L × d²)</a:t>
            </a:r>
            <a:endParaRPr lang="en-US" sz="9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MTP:    1 LM pass + 15 light layers per frame ≈ O(L × d²)</a:t>
            </a:r>
            <a:endParaRPr lang="en-US" sz="9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roughly 10–15× fewer compute operations per frame.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709160" y="1097281"/>
            <a:ext cx="4023360" cy="3840479"/>
          </a:xfrm>
          <a:prstGeom prst="rect">
            <a:avLst/>
          </a:prstGeom>
          <a:solidFill>
            <a:srgbClr val="0A1520"/>
          </a:solidFill>
          <a:ln w="10160">
            <a:solidFill>
              <a:srgbClr val="2E4F6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09160" y="1108262"/>
            <a:ext cx="4023360" cy="54864"/>
          </a:xfrm>
          <a:prstGeom prst="rect">
            <a:avLst/>
          </a:prstGeom>
          <a:solidFill>
            <a:srgbClr val="4A9AB5"/>
          </a:solidFill>
          <a:ln w="12700">
            <a:solidFill>
              <a:srgbClr val="4A9AB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73752" y="1554480"/>
            <a:ext cx="3767328" cy="33284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800" dirty="0">
                <a:solidFill>
                  <a:srgbClr val="A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MTP inference — one frame at a time</a:t>
            </a:r>
            <a:endParaRPr lang="en-US" sz="8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800" dirty="0">
                <a:solidFill>
                  <a:srgbClr val="A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frame_t in range(num_frames):</a:t>
            </a:r>
            <a:endParaRPr lang="en-US" sz="800" dirty="0"/>
          </a:p>
          <a:p>
            <a:pPr marL="0" indent="0">
              <a:lnSpc>
                <a:spcPct val="140000"/>
              </a:lnSpc>
              <a:buNone/>
            </a:pPr>
            <a:endParaRPr lang="en-US" sz="8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800" dirty="0">
                <a:solidFill>
                  <a:srgbClr val="A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ONE LM forward pass</a:t>
            </a:r>
            <a:endParaRPr lang="en-US" sz="8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800" dirty="0">
                <a:solidFill>
                  <a:srgbClr val="A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hidden = transformer_decoder(fused_t)</a:t>
            </a:r>
            <a:endParaRPr lang="en-US" sz="8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800" dirty="0">
                <a:solidFill>
                  <a:srgbClr val="A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code_0 = LM_head(hidden)     # semantic</a:t>
            </a:r>
            <a:endParaRPr lang="en-US" sz="800" dirty="0"/>
          </a:p>
          <a:p>
            <a:pPr marL="0" indent="0">
              <a:lnSpc>
                <a:spcPct val="140000"/>
              </a:lnSpc>
              <a:buNone/>
            </a:pPr>
            <a:endParaRPr lang="en-US" sz="8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800" dirty="0">
                <a:solidFill>
                  <a:srgbClr val="A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MTP: parallel hierarchical prediction</a:t>
            </a:r>
            <a:endParaRPr lang="en-US" sz="8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800" dirty="0">
                <a:solidFill>
                  <a:srgbClr val="A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code_1  = MTP_1(hidden, code_0)</a:t>
            </a:r>
            <a:endParaRPr lang="en-US" sz="8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800" dirty="0">
                <a:solidFill>
                  <a:srgbClr val="A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code_2  = MTP_2(hidden, code_0, code_1)</a:t>
            </a:r>
            <a:endParaRPr lang="en-US" sz="8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800" dirty="0">
                <a:solidFill>
                  <a:srgbClr val="A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code_3  = MTP_3(hidden, ..., code_2)</a:t>
            </a:r>
            <a:endParaRPr lang="en-US" sz="8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800" dirty="0">
                <a:solidFill>
                  <a:srgbClr val="A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... continues to code_15</a:t>
            </a:r>
            <a:endParaRPr lang="en-US" sz="800" dirty="0"/>
          </a:p>
          <a:p>
            <a:pPr marL="0" indent="0">
              <a:lnSpc>
                <a:spcPct val="140000"/>
              </a:lnSpc>
              <a:buNone/>
            </a:pPr>
            <a:endParaRPr lang="en-US" sz="8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800" dirty="0">
                <a:solidFill>
                  <a:srgbClr val="A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All 16 codes ready — ONE pass/frame</a:t>
            </a:r>
            <a:endParaRPr lang="en-US" sz="8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800" dirty="0">
                <a:solidFill>
                  <a:srgbClr val="A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frame_codes = [code_0, ..., code_15]</a:t>
            </a:r>
            <a:endParaRPr lang="en-US" sz="800" dirty="0"/>
          </a:p>
          <a:p>
            <a:pPr marL="0" indent="0">
              <a:lnSpc>
                <a:spcPct val="140000"/>
              </a:lnSpc>
              <a:buNone/>
            </a:pPr>
            <a:endParaRPr lang="en-US" sz="8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800" dirty="0">
                <a:solidFill>
                  <a:srgbClr val="A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Causal decode → 80ms of audio/token</a:t>
            </a:r>
            <a:endParaRPr lang="en-US" sz="8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800" dirty="0">
                <a:solidFill>
                  <a:srgbClr val="A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audio_chunk = codec_decoder(frame_codes)</a:t>
            </a:r>
            <a:endParaRPr lang="en-US" sz="8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800" dirty="0">
                <a:solidFill>
                  <a:srgbClr val="A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stream_out(</a:t>
            </a:r>
            <a:r>
              <a:rPr lang="en-US" sz="800" dirty="0" err="1">
                <a:solidFill>
                  <a:srgbClr val="A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audio_chunk</a:t>
            </a:r>
            <a:r>
              <a:rPr lang="en-US" sz="800" dirty="0">
                <a:solidFill>
                  <a:srgbClr val="A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24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A9AB5"/>
          </a:solidFill>
          <a:ln w="12700">
            <a:solidFill>
              <a:srgbClr val="4A9AB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0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0" dirty="0">
                <a:solidFill>
                  <a:srgbClr val="2438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457200" y="2736775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Codec Paths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3834055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8AA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12Hz RVQ vs 25Hz Flow Matching DiT — when to use which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07744" y="2800546"/>
            <a:ext cx="2286000" cy="0"/>
          </a:xfrm>
          <a:prstGeom prst="line">
            <a:avLst/>
          </a:prstGeom>
          <a:noFill/>
          <a:ln w="19050">
            <a:solidFill>
              <a:srgbClr val="4A9AB5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C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182880"/>
            <a:ext cx="1463040" cy="256032"/>
          </a:xfrm>
          <a:prstGeom prst="rect">
            <a:avLst/>
          </a:prstGeom>
          <a:solidFill>
            <a:srgbClr val="4A9AB5"/>
          </a:solidFill>
          <a:ln w="12700">
            <a:solidFill>
              <a:srgbClr val="4A9AB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828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F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CODEC STRATEGIES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438912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codec paths — same LM backbone, different decoder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8321040" cy="0"/>
          </a:xfrm>
          <a:prstGeom prst="line">
            <a:avLst/>
          </a:prstGeom>
          <a:noFill/>
          <a:ln w="15240">
            <a:solidFill>
              <a:srgbClr val="4A9AB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353312"/>
            <a:ext cx="4023360" cy="347472"/>
          </a:xfrm>
          <a:prstGeom prst="rect">
            <a:avLst/>
          </a:prstGeom>
          <a:solidFill>
            <a:srgbClr val="4A9AB5"/>
          </a:solidFill>
          <a:ln w="12700">
            <a:solidFill>
              <a:srgbClr val="4A9AB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371600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Hz PATH — RVQ Codec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1480" y="1737360"/>
            <a:ext cx="4023360" cy="320040"/>
          </a:xfrm>
          <a:prstGeom prst="rect">
            <a:avLst/>
          </a:prstGeom>
          <a:solidFill>
            <a:srgbClr val="1E3040"/>
          </a:solidFill>
          <a:ln w="5080">
            <a:solidFill>
              <a:srgbClr val="2E4F6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177393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D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rate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938528" y="1773936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12.5 frames per second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11480" y="2075688"/>
            <a:ext cx="4023360" cy="320040"/>
          </a:xfrm>
          <a:prstGeom prst="rect">
            <a:avLst/>
          </a:prstGeom>
          <a:solidFill>
            <a:srgbClr val="243850"/>
          </a:solidFill>
          <a:ln w="5080">
            <a:solidFill>
              <a:srgbClr val="2E4F6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" y="211226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D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Codebooks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938528" y="2112264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codebooks, 2,048 codes each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11480" y="2414016"/>
            <a:ext cx="4023360" cy="320040"/>
          </a:xfrm>
          <a:prstGeom prst="rect">
            <a:avLst/>
          </a:prstGeom>
          <a:solidFill>
            <a:srgbClr val="1E3040"/>
          </a:solidFill>
          <a:ln w="5080">
            <a:solidFill>
              <a:srgbClr val="2E4F6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" y="24505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D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CB-0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938528" y="245059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— WavLM distilled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11480" y="2752344"/>
            <a:ext cx="4023360" cy="320040"/>
          </a:xfrm>
          <a:prstGeom prst="rect">
            <a:avLst/>
          </a:prstGeom>
          <a:solidFill>
            <a:srgbClr val="243850"/>
          </a:solidFill>
          <a:ln w="5080">
            <a:solidFill>
              <a:srgbClr val="2E4F6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0352" y="278892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D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 1–15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938528" y="278892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Acoustic residuals (RVQ)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11480" y="3090672"/>
            <a:ext cx="4023360" cy="320040"/>
          </a:xfrm>
          <a:prstGeom prst="rect">
            <a:avLst/>
          </a:prstGeom>
          <a:solidFill>
            <a:srgbClr val="1E3040"/>
          </a:solidFill>
          <a:ln w="5080">
            <a:solidFill>
              <a:srgbClr val="2E4F6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0352" y="312724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D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Decoder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938528" y="312724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causal ConvNet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11480" y="3429000"/>
            <a:ext cx="4023360" cy="320040"/>
          </a:xfrm>
          <a:prstGeom prst="rect">
            <a:avLst/>
          </a:prstGeom>
          <a:solidFill>
            <a:srgbClr val="243850"/>
          </a:solidFill>
          <a:ln w="5080">
            <a:solidFill>
              <a:srgbClr val="2E4F6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0352" y="346557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D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packet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938528" y="3465576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97ms (0.6B) / 101ms (1.7B)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11480" y="3767328"/>
            <a:ext cx="4023360" cy="320040"/>
          </a:xfrm>
          <a:prstGeom prst="rect">
            <a:avLst/>
          </a:prstGeom>
          <a:solidFill>
            <a:srgbClr val="1E3040"/>
          </a:solidFill>
          <a:ln w="5080">
            <a:solidFill>
              <a:srgbClr val="2E4F6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0352" y="380390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D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Open-sourced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938528" y="3803904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✓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11480" y="4105656"/>
            <a:ext cx="4023360" cy="320040"/>
          </a:xfrm>
          <a:prstGeom prst="rect">
            <a:avLst/>
          </a:prstGeom>
          <a:solidFill>
            <a:srgbClr val="243850"/>
          </a:solidFill>
          <a:ln w="5080">
            <a:solidFill>
              <a:srgbClr val="2E4F6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0352" y="414223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D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1938528" y="414223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apps, short-form TTS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709160" y="1353312"/>
            <a:ext cx="4023360" cy="347472"/>
          </a:xfrm>
          <a:prstGeom prst="rect">
            <a:avLst/>
          </a:prstGeom>
          <a:solidFill>
            <a:srgbClr val="5A8060"/>
          </a:solidFill>
          <a:ln w="12700">
            <a:solidFill>
              <a:srgbClr val="5A806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00600" y="1371600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Hz PATH — Flow Matching DiT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709160" y="1737360"/>
            <a:ext cx="4023360" cy="320040"/>
          </a:xfrm>
          <a:prstGeom prst="rect">
            <a:avLst/>
          </a:prstGeom>
          <a:solidFill>
            <a:srgbClr val="1E3040"/>
          </a:solidFill>
          <a:ln w="5080">
            <a:solidFill>
              <a:srgbClr val="2E4F6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28032" y="177393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0C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rate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236208" y="1773936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frames per second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709160" y="2075688"/>
            <a:ext cx="4023360" cy="320040"/>
          </a:xfrm>
          <a:prstGeom prst="rect">
            <a:avLst/>
          </a:prstGeom>
          <a:solidFill>
            <a:srgbClr val="243850"/>
          </a:solidFill>
          <a:ln w="5080">
            <a:solidFill>
              <a:srgbClr val="2E4F6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28032" y="211226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0C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Codebooks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236208" y="2112264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codebook, 32,768 codes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709160" y="2414016"/>
            <a:ext cx="4023360" cy="320040"/>
          </a:xfrm>
          <a:prstGeom prst="rect">
            <a:avLst/>
          </a:prstGeom>
          <a:solidFill>
            <a:srgbClr val="1E3040"/>
          </a:solidFill>
          <a:ln w="5080">
            <a:solidFill>
              <a:srgbClr val="2E4F6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28032" y="24505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0C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Tokenizer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6236208" y="245059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Qwen2-Audio encoder + VQ layer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4709160" y="2752344"/>
            <a:ext cx="4023360" cy="320040"/>
          </a:xfrm>
          <a:prstGeom prst="rect">
            <a:avLst/>
          </a:prstGeom>
          <a:solidFill>
            <a:srgbClr val="243850"/>
          </a:solidFill>
          <a:ln w="5080">
            <a:solidFill>
              <a:srgbClr val="2E4F6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28032" y="278892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0C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Decoder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6236208" y="278892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Block-wise DiT (Flow Matching)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4709160" y="3090672"/>
            <a:ext cx="4023360" cy="320040"/>
          </a:xfrm>
          <a:prstGeom prst="rect">
            <a:avLst/>
          </a:prstGeom>
          <a:solidFill>
            <a:srgbClr val="1E3040"/>
          </a:solidFill>
          <a:ln w="5080">
            <a:solidFill>
              <a:srgbClr val="2E4F6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28032" y="312724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0C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Vocoder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6236208" y="312724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Modified BigVGAN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4709160" y="3429000"/>
            <a:ext cx="4023360" cy="320040"/>
          </a:xfrm>
          <a:prstGeom prst="rect">
            <a:avLst/>
          </a:prstGeom>
          <a:solidFill>
            <a:srgbClr val="243850"/>
          </a:solidFill>
          <a:ln w="5080">
            <a:solidFill>
              <a:srgbClr val="2E4F6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828032" y="346557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0C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packet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6236208" y="3465576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~150ms (1.7B)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4709160" y="3767328"/>
            <a:ext cx="4023360" cy="320040"/>
          </a:xfrm>
          <a:prstGeom prst="rect">
            <a:avLst/>
          </a:prstGeom>
          <a:solidFill>
            <a:srgbClr val="1E3040"/>
          </a:solidFill>
          <a:ln w="5080">
            <a:solidFill>
              <a:srgbClr val="2E4F6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828032" y="380390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0C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Open-sourced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6236208" y="3803904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(weights coming soon)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4709160" y="4105656"/>
            <a:ext cx="4023360" cy="320040"/>
          </a:xfrm>
          <a:prstGeom prst="rect">
            <a:avLst/>
          </a:prstGeom>
          <a:solidFill>
            <a:srgbClr val="243850"/>
          </a:solidFill>
          <a:ln w="5080">
            <a:solidFill>
              <a:srgbClr val="2E4F6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828032" y="414223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0C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6236208" y="414223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Long-form, expressive narration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624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A9AB5"/>
          </a:solidFill>
          <a:ln w="12700">
            <a:solidFill>
              <a:srgbClr val="4A9AB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0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0" dirty="0">
                <a:solidFill>
                  <a:srgbClr val="2438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360705" y="2852353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Training Recipe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397465" y="363016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8AA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stages: 3 pretraining + 3 post-training — mirrors the LLM playbook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97465" y="2763786"/>
            <a:ext cx="2286000" cy="0"/>
          </a:xfrm>
          <a:prstGeom prst="line">
            <a:avLst/>
          </a:prstGeom>
          <a:noFill/>
          <a:ln w="19050">
            <a:solidFill>
              <a:srgbClr val="4A9AB5"/>
            </a:solidFill>
            <a:prstDash val="soli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C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182880"/>
            <a:ext cx="1463040" cy="256032"/>
          </a:xfrm>
          <a:prstGeom prst="rect">
            <a:avLst/>
          </a:prstGeom>
          <a:solidFill>
            <a:srgbClr val="4A9AB5"/>
          </a:solidFill>
          <a:ln w="12700">
            <a:solidFill>
              <a:srgbClr val="4A9AB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828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F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4864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6-stage training recipe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8321040" cy="0"/>
          </a:xfrm>
          <a:prstGeom prst="line">
            <a:avLst/>
          </a:prstGeom>
          <a:noFill/>
          <a:ln w="15240">
            <a:solidFill>
              <a:srgbClr val="4A9AB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371600"/>
            <a:ext cx="4206240" cy="1143000"/>
          </a:xfrm>
          <a:prstGeom prst="rect">
            <a:avLst/>
          </a:prstGeom>
          <a:solidFill>
            <a:srgbClr val="1E3040"/>
          </a:solidFill>
          <a:ln w="10160">
            <a:solidFill>
              <a:srgbClr val="4A9AB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755648"/>
            <a:ext cx="384048" cy="384048"/>
          </a:xfrm>
          <a:prstGeom prst="ellipse">
            <a:avLst/>
          </a:prstGeom>
          <a:solidFill>
            <a:srgbClr val="4A9AB5"/>
          </a:solidFill>
          <a:ln w="12700">
            <a:solidFill>
              <a:srgbClr val="4A9AB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755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C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69848" y="1481328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4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PRE-TRAINING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069848" y="170078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 General Stage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1069848" y="1965960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on all 5M+ hours of multilingual speech. Establishes basic text→speech mapping. Loss: cross-entropy on codebook 0 tokens.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11480" y="2606040"/>
            <a:ext cx="4206240" cy="1143000"/>
          </a:xfrm>
          <a:prstGeom prst="rect">
            <a:avLst/>
          </a:prstGeom>
          <a:solidFill>
            <a:srgbClr val="1E3040"/>
          </a:solidFill>
          <a:ln w="10160">
            <a:solidFill>
              <a:srgbClr val="4A809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2990088"/>
            <a:ext cx="384048" cy="384048"/>
          </a:xfrm>
          <a:prstGeom prst="ellipse">
            <a:avLst/>
          </a:prstGeom>
          <a:solidFill>
            <a:srgbClr val="4A8090"/>
          </a:solidFill>
          <a:ln w="12700">
            <a:solidFill>
              <a:srgbClr val="4A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990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C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69848" y="2715768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4A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PRE-TRAINING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069848" y="293522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  High-Quality Stage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1069848" y="3200400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 on a quality-filtered subset. Suppresses hallucinations (random words, repetitions). Sharpens prosody and accent accuracy.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11480" y="3840480"/>
            <a:ext cx="4206240" cy="1143000"/>
          </a:xfrm>
          <a:prstGeom prst="rect">
            <a:avLst/>
          </a:prstGeom>
          <a:solidFill>
            <a:srgbClr val="1E3040"/>
          </a:solidFill>
          <a:ln w="10160">
            <a:solidFill>
              <a:srgbClr val="3A708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4224528"/>
            <a:ext cx="384048" cy="384048"/>
          </a:xfrm>
          <a:prstGeom prst="ellipse">
            <a:avLst/>
          </a:prstGeom>
          <a:solidFill>
            <a:srgbClr val="3A7080"/>
          </a:solidFill>
          <a:ln w="12700">
            <a:solidFill>
              <a:srgbClr val="3A708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4224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C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69848" y="3950208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3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PRE-TRAINING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069848" y="416966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 Long-Context Stage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1069848" y="4434840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context from 8K → 32K tokens. Upsample long recordings (10+ min). Prevents drift and looping on extended synthesis.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18888" y="1371600"/>
            <a:ext cx="4206240" cy="1143000"/>
          </a:xfrm>
          <a:prstGeom prst="rect">
            <a:avLst/>
          </a:prstGeom>
          <a:solidFill>
            <a:srgbClr val="1E3040"/>
          </a:solidFill>
          <a:ln w="10160">
            <a:solidFill>
              <a:srgbClr val="5A407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956048" y="1755648"/>
            <a:ext cx="384048" cy="384048"/>
          </a:xfrm>
          <a:prstGeom prst="ellipse">
            <a:avLst/>
          </a:prstGeom>
          <a:solidFill>
            <a:srgbClr val="5A4070"/>
          </a:solidFill>
          <a:ln w="12700">
            <a:solidFill>
              <a:srgbClr val="5A407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56048" y="1755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C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477256" y="1481328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5A4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POST-TRAINING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477256" y="170078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 DPO Alignment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477256" y="1965960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Preference Optimisation on human-labeled pairs. Model learns subjective naturalness, accent neutrality, and perceptual quality.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18888" y="2606040"/>
            <a:ext cx="4206240" cy="1143000"/>
          </a:xfrm>
          <a:prstGeom prst="rect">
            <a:avLst/>
          </a:prstGeom>
          <a:solidFill>
            <a:srgbClr val="1E3040"/>
          </a:solidFill>
          <a:ln w="10160">
            <a:solidFill>
              <a:srgbClr val="6A386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956048" y="2990088"/>
            <a:ext cx="384048" cy="384048"/>
          </a:xfrm>
          <a:prstGeom prst="ellipse">
            <a:avLst/>
          </a:prstGeom>
          <a:solidFill>
            <a:srgbClr val="6A3868"/>
          </a:solidFill>
          <a:ln w="12700">
            <a:solidFill>
              <a:srgbClr val="6A386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56048" y="2990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C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477256" y="2715768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6A3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POST-TRAINING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477256" y="293522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  GSPO Reinforcement Learning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5477256" y="3200400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Sequence Policy Optimisation with rule-based rewards: correct pronunciation, no repetition loops, benchmark prosody. No reward model needed.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818888" y="3840480"/>
            <a:ext cx="4206240" cy="1143000"/>
          </a:xfrm>
          <a:prstGeom prst="rect">
            <a:avLst/>
          </a:prstGeom>
          <a:solidFill>
            <a:srgbClr val="1E3040"/>
          </a:solidFill>
          <a:ln w="10160">
            <a:solidFill>
              <a:srgbClr val="7A286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956048" y="4224528"/>
            <a:ext cx="384048" cy="384048"/>
          </a:xfrm>
          <a:prstGeom prst="ellipse">
            <a:avLst/>
          </a:prstGeom>
          <a:solidFill>
            <a:srgbClr val="7A2860"/>
          </a:solidFill>
          <a:ln w="12700">
            <a:solidFill>
              <a:srgbClr val="7A286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56048" y="4224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C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477256" y="3950208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7A2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POST-TRAINING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5477256" y="416966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  Speaker Fine-tuning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5477256" y="4434840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fine-tune to inject 9 preset voices (CustomVoice) or enable free-form voice design from text descriptions (VoiceDesign).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C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182880"/>
            <a:ext cx="1463040" cy="256032"/>
          </a:xfrm>
          <a:prstGeom prst="rect">
            <a:avLst/>
          </a:prstGeom>
          <a:solidFill>
            <a:srgbClr val="4A9AB5"/>
          </a:solidFill>
          <a:ln w="12700">
            <a:solidFill>
              <a:srgbClr val="4A9AB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828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F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FUNCTIONS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4864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model is actually optimising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8321040" cy="0"/>
          </a:xfrm>
          <a:prstGeom prst="line">
            <a:avLst/>
          </a:prstGeom>
          <a:noFill/>
          <a:ln w="15240">
            <a:solidFill>
              <a:srgbClr val="4A9AB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371600"/>
            <a:ext cx="4160520" cy="3547872"/>
          </a:xfrm>
          <a:prstGeom prst="rect">
            <a:avLst/>
          </a:prstGeom>
          <a:solidFill>
            <a:srgbClr val="0A1520"/>
          </a:solidFill>
          <a:ln w="10160">
            <a:solidFill>
              <a:srgbClr val="2E4F6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371600"/>
            <a:ext cx="4160520" cy="54864"/>
          </a:xfrm>
          <a:prstGeom prst="rect">
            <a:avLst/>
          </a:prstGeom>
          <a:solidFill>
            <a:srgbClr val="4A9AB5"/>
          </a:solidFill>
          <a:ln w="12700">
            <a:solidFill>
              <a:srgbClr val="4A9AB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6072" y="1481328"/>
            <a:ext cx="3904488" cy="33832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800" dirty="0">
                <a:solidFill>
                  <a:srgbClr val="A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── CODEC TRAINING LOSSES ──</a:t>
            </a:r>
            <a:endParaRPr lang="en-US" sz="8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800" dirty="0">
                <a:solidFill>
                  <a:srgbClr val="A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L_reco = mel_spectrogram_loss(</a:t>
            </a:r>
            <a:endParaRPr lang="en-US" sz="8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800" dirty="0">
                <a:solidFill>
                  <a:srgbClr val="A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decoded_audio, original_audio)</a:t>
            </a:r>
            <a:endParaRPr lang="en-US" sz="800" dirty="0"/>
          </a:p>
          <a:p>
            <a:pPr marL="0" indent="0">
              <a:lnSpc>
                <a:spcPct val="140000"/>
              </a:lnSpc>
              <a:buNone/>
            </a:pPr>
            <a:endParaRPr lang="en-US" sz="8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800" dirty="0">
                <a:solidFill>
                  <a:srgbClr val="A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L_sem  = cosine_distance(</a:t>
            </a:r>
            <a:endParaRPr lang="en-US" sz="8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800" dirty="0">
                <a:solidFill>
                  <a:srgbClr val="A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code_0_emb, wavlm_teacher_emb)</a:t>
            </a:r>
            <a:endParaRPr lang="en-US" sz="800" dirty="0"/>
          </a:p>
          <a:p>
            <a:pPr marL="0" indent="0">
              <a:lnSpc>
                <a:spcPct val="140000"/>
              </a:lnSpc>
              <a:buNone/>
            </a:pPr>
            <a:endParaRPr lang="en-US" sz="8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800" dirty="0">
                <a:solidFill>
                  <a:srgbClr val="A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L_gen  = discriminator_loss(decoded)</a:t>
            </a:r>
            <a:endParaRPr lang="en-US" sz="800" dirty="0"/>
          </a:p>
          <a:p>
            <a:pPr marL="0" indent="0">
              <a:lnSpc>
                <a:spcPct val="140000"/>
              </a:lnSpc>
              <a:buNone/>
            </a:pPr>
            <a:endParaRPr lang="en-US" sz="8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800" dirty="0">
                <a:solidFill>
                  <a:srgbClr val="A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L_codec = L_reco + λ1*L_sem + λ2*L_gen</a:t>
            </a:r>
            <a:endParaRPr lang="en-US" sz="800" dirty="0"/>
          </a:p>
          <a:p>
            <a:pPr marL="0" indent="0">
              <a:lnSpc>
                <a:spcPct val="140000"/>
              </a:lnSpc>
              <a:buNone/>
            </a:pPr>
            <a:endParaRPr lang="en-US" sz="8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800" dirty="0">
                <a:solidFill>
                  <a:srgbClr val="A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── LM PRETRAINING (CB-0 only) ──</a:t>
            </a:r>
            <a:endParaRPr lang="en-US" sz="8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800" dirty="0">
                <a:solidFill>
                  <a:srgbClr val="A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L_lm = cross_entropy(</a:t>
            </a:r>
            <a:endParaRPr lang="en-US" sz="8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800" dirty="0">
                <a:solidFill>
                  <a:srgbClr val="A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LM_head(hidden), target_code_0)</a:t>
            </a:r>
            <a:endParaRPr lang="en-US" sz="800" dirty="0"/>
          </a:p>
          <a:p>
            <a:pPr marL="0" indent="0">
              <a:lnSpc>
                <a:spcPct val="140000"/>
              </a:lnSpc>
              <a:buNone/>
            </a:pPr>
            <a:endParaRPr lang="en-US" sz="8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800" dirty="0">
                <a:solidFill>
                  <a:srgbClr val="A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── MTP HEAD (CB 1-15 parallel) ──</a:t>
            </a:r>
            <a:endParaRPr lang="en-US" sz="8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800" dirty="0">
                <a:solidFill>
                  <a:srgbClr val="A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L_mtp = sum([cross_entropy(</a:t>
            </a:r>
            <a:endParaRPr lang="en-US" sz="8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800" dirty="0">
                <a:solidFill>
                  <a:srgbClr val="A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MTP_k(h), code_k)</a:t>
            </a:r>
            <a:endParaRPr lang="en-US" sz="8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800" dirty="0">
                <a:solidFill>
                  <a:srgbClr val="A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k in range(1, 16)])</a:t>
            </a:r>
            <a:endParaRPr lang="en-US" sz="800" dirty="0"/>
          </a:p>
          <a:p>
            <a:pPr marL="0" indent="0">
              <a:lnSpc>
                <a:spcPct val="140000"/>
              </a:lnSpc>
              <a:buNone/>
            </a:pPr>
            <a:endParaRPr lang="en-US" sz="8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800" dirty="0">
                <a:solidFill>
                  <a:srgbClr val="A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L_total = L_lm + α * L_mtp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663440" y="1371600"/>
            <a:ext cx="4069080" cy="3547872"/>
          </a:xfrm>
          <a:prstGeom prst="rect">
            <a:avLst/>
          </a:prstGeom>
          <a:solidFill>
            <a:srgbClr val="0A1520"/>
          </a:solidFill>
          <a:ln w="10160">
            <a:solidFill>
              <a:srgbClr val="2E4F6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1371600"/>
            <a:ext cx="4069080" cy="54864"/>
          </a:xfrm>
          <a:prstGeom prst="rect">
            <a:avLst/>
          </a:prstGeom>
          <a:solidFill>
            <a:srgbClr val="4A9AB5"/>
          </a:solidFill>
          <a:ln w="12700">
            <a:solidFill>
              <a:srgbClr val="4A9AB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28032" y="1481328"/>
            <a:ext cx="3813048" cy="33832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800" dirty="0">
                <a:solidFill>
                  <a:srgbClr val="A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── DPO — POST-TRAINING P1 ──</a:t>
            </a:r>
            <a:endParaRPr lang="en-US" sz="8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800" dirty="0">
                <a:solidFill>
                  <a:srgbClr val="A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Input: (text, audio_good, audio_bad)</a:t>
            </a:r>
            <a:endParaRPr lang="en-US" sz="8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800" dirty="0">
                <a:solidFill>
                  <a:srgbClr val="A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L_dpo = -log_sigmoid( β * (</a:t>
            </a:r>
            <a:endParaRPr lang="en-US" sz="8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800" dirty="0">
                <a:solidFill>
                  <a:srgbClr val="A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log_p(audio_good | text, model)</a:t>
            </a:r>
            <a:endParaRPr lang="en-US" sz="8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800" dirty="0">
                <a:solidFill>
                  <a:srgbClr val="A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log_p(audio_good | text, ref)</a:t>
            </a:r>
            <a:endParaRPr lang="en-US" sz="8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800" dirty="0">
                <a:solidFill>
                  <a:srgbClr val="A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log_p(audio_bad  | text, model)</a:t>
            </a:r>
            <a:endParaRPr lang="en-US" sz="8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800" dirty="0">
                <a:solidFill>
                  <a:srgbClr val="A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+ log_p(audio_bad  | text, ref)</a:t>
            </a:r>
            <a:endParaRPr lang="en-US" sz="8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800" dirty="0">
                <a:solidFill>
                  <a:srgbClr val="A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800" dirty="0"/>
          </a:p>
          <a:p>
            <a:pPr marL="0" indent="0">
              <a:lnSpc>
                <a:spcPct val="140000"/>
              </a:lnSpc>
              <a:buNone/>
            </a:pPr>
            <a:endParaRPr lang="en-US" sz="8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800" dirty="0">
                <a:solidFill>
                  <a:srgbClr val="A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── GSPO REWARD — POST-TRAINING P2 ──</a:t>
            </a:r>
            <a:endParaRPr lang="en-US" sz="8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800" dirty="0">
                <a:solidFill>
                  <a:srgbClr val="A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Rule-based: no reward model needed</a:t>
            </a:r>
            <a:endParaRPr lang="en-US" sz="8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800" dirty="0">
                <a:solidFill>
                  <a:srgbClr val="A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reward = (</a:t>
            </a:r>
            <a:endParaRPr lang="en-US" sz="8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800" dirty="0">
                <a:solidFill>
                  <a:srgbClr val="A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WER(asr_output, target_text)</a:t>
            </a:r>
            <a:endParaRPr lang="en-US" sz="8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800" dirty="0">
                <a:solidFill>
                  <a:srgbClr val="A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+ speaker_similarity(output, ref)</a:t>
            </a:r>
            <a:endParaRPr lang="en-US" sz="8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800" dirty="0">
                <a:solidFill>
                  <a:srgbClr val="A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loop_detection_penalty(output)</a:t>
            </a:r>
            <a:endParaRPr lang="en-US" sz="8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800" dirty="0">
                <a:solidFill>
                  <a:srgbClr val="A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+ mos_predictor_score(output)</a:t>
            </a:r>
            <a:endParaRPr lang="en-US" sz="8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800" dirty="0">
                <a:solidFill>
                  <a:srgbClr val="A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800" dirty="0">
                <a:solidFill>
                  <a:srgbClr val="A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GSPO optimises over GROUPS of</a:t>
            </a:r>
            <a:endParaRPr lang="en-US" sz="8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800" dirty="0">
                <a:solidFill>
                  <a:srgbClr val="A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sequences — stable for long audio</a:t>
            </a:r>
            <a:endParaRPr lang="en-US" sz="8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800" dirty="0">
                <a:solidFill>
                  <a:srgbClr val="A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where single bad frame ruins reward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624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A9AB5"/>
          </a:solidFill>
          <a:ln w="12700">
            <a:solidFill>
              <a:srgbClr val="4A9AB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0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0" dirty="0">
                <a:solidFill>
                  <a:srgbClr val="2438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516934" y="269748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Voice Cloning &amp; Control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16934" y="37947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8AA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cloning modes and natural-language style control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16934" y="2855685"/>
            <a:ext cx="2286000" cy="0"/>
          </a:xfrm>
          <a:prstGeom prst="line">
            <a:avLst/>
          </a:prstGeom>
          <a:noFill/>
          <a:ln w="19050">
            <a:solidFill>
              <a:srgbClr val="4A9AB5"/>
            </a:solidFill>
            <a:prstDash val="solid"/>
          </a:ln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C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182880"/>
            <a:ext cx="1463040" cy="256032"/>
          </a:xfrm>
          <a:prstGeom prst="rect">
            <a:avLst/>
          </a:prstGeom>
          <a:solidFill>
            <a:srgbClr val="4A9AB5"/>
          </a:solidFill>
          <a:ln w="12700">
            <a:solidFill>
              <a:srgbClr val="4A9AB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828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F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CLONING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4864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voice cloning modes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8321040" cy="0"/>
          </a:xfrm>
          <a:prstGeom prst="line">
            <a:avLst/>
          </a:prstGeom>
          <a:noFill/>
          <a:ln w="15240">
            <a:solidFill>
              <a:srgbClr val="4A9AB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371600"/>
            <a:ext cx="2724912" cy="3520440"/>
          </a:xfrm>
          <a:prstGeom prst="rect">
            <a:avLst/>
          </a:prstGeom>
          <a:solidFill>
            <a:srgbClr val="1E3040"/>
          </a:solidFill>
          <a:ln w="10160">
            <a:solidFill>
              <a:srgbClr val="4A9AB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371600"/>
            <a:ext cx="2724912" cy="384048"/>
          </a:xfrm>
          <a:prstGeom prst="rect">
            <a:avLst/>
          </a:prstGeom>
          <a:solidFill>
            <a:srgbClr val="4A9AB5"/>
          </a:solidFill>
          <a:ln w="12700">
            <a:solidFill>
              <a:srgbClr val="4A9AB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1208" y="1408176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1  —  In-Context Learning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21208" y="1828800"/>
            <a:ext cx="2514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audio is encoded to codec tokens and prepended to the LM context with its transcript. The LM 'reads' the example speech and mimics it.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21208" y="2679192"/>
            <a:ext cx="2468880" cy="0"/>
          </a:xfrm>
          <a:prstGeom prst="line">
            <a:avLst/>
          </a:prstGeom>
          <a:noFill/>
          <a:ln w="7620">
            <a:solidFill>
              <a:srgbClr val="2E4F6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1208" y="274320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A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~188 prefix tokens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21208" y="304495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A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Best quality — captures prosody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21208" y="3346704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A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Requires transcript of reference clip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21208" y="3648456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A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Default mode for production use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46120" y="1371600"/>
            <a:ext cx="2724912" cy="3520440"/>
          </a:xfrm>
          <a:prstGeom prst="rect">
            <a:avLst/>
          </a:prstGeom>
          <a:solidFill>
            <a:srgbClr val="1E3040"/>
          </a:solidFill>
          <a:ln w="10160">
            <a:solidFill>
              <a:srgbClr val="4A888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46120" y="1371600"/>
            <a:ext cx="2724912" cy="384048"/>
          </a:xfrm>
          <a:prstGeom prst="rect">
            <a:avLst/>
          </a:prstGeom>
          <a:solidFill>
            <a:srgbClr val="4A8880"/>
          </a:solidFill>
          <a:ln w="12700">
            <a:solidFill>
              <a:srgbClr val="4A888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55848" y="1408176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2  —  X-Vector Only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355848" y="1828800"/>
            <a:ext cx="2514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speaker encoder extracts a ~2048-dim embedding from the reference clip. Injected as ~10 tokens. No transcript needed.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355848" y="2679192"/>
            <a:ext cx="2468880" cy="0"/>
          </a:xfrm>
          <a:prstGeom prst="line">
            <a:avLst/>
          </a:prstGeom>
          <a:noFill/>
          <a:ln w="7620">
            <a:solidFill>
              <a:srgbClr val="2E4F6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55848" y="274320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A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~10 prefix tokens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355848" y="304495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A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Fastest path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355848" y="3346704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A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No transcript required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355848" y="3648456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A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Used for real-time streaming API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080760" y="1371600"/>
            <a:ext cx="2724912" cy="3520440"/>
          </a:xfrm>
          <a:prstGeom prst="rect">
            <a:avLst/>
          </a:prstGeom>
          <a:solidFill>
            <a:srgbClr val="1E3040"/>
          </a:solidFill>
          <a:ln w="10160">
            <a:solidFill>
              <a:srgbClr val="3A787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080760" y="1371600"/>
            <a:ext cx="2724912" cy="384048"/>
          </a:xfrm>
          <a:prstGeom prst="rect">
            <a:avLst/>
          </a:prstGeom>
          <a:solidFill>
            <a:srgbClr val="3A7870"/>
          </a:solidFill>
          <a:ln w="12700">
            <a:solidFill>
              <a:srgbClr val="3A787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90488" y="1408176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3  —  Combined (best of both)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190488" y="1828800"/>
            <a:ext cx="2514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X-vector anchors speaker identity (timbre). In-context tokens carry prosody and expression. The two complement each other.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190488" y="2679192"/>
            <a:ext cx="2468880" cy="0"/>
          </a:xfrm>
          <a:prstGeom prst="line">
            <a:avLst/>
          </a:prstGeom>
          <a:noFill/>
          <a:ln w="7620">
            <a:solidFill>
              <a:srgbClr val="2E4F6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90488" y="274320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A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Best of Mode 1 + Mode 2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190488" y="304495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A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Recommended for high-quality production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190488" y="3346704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A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Slightly higher token cost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190488" y="3648456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A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Consistent identity + expressive prosody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C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182880"/>
            <a:ext cx="1463040" cy="256032"/>
          </a:xfrm>
          <a:prstGeom prst="rect">
            <a:avLst/>
          </a:prstGeom>
          <a:solidFill>
            <a:srgbClr val="4A9AB5"/>
          </a:solidFill>
          <a:ln w="12700">
            <a:solidFill>
              <a:srgbClr val="4A9AB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828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F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 CONTROL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4864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Style &amp; emotion — controlled by plain text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8321040" cy="0"/>
          </a:xfrm>
          <a:prstGeom prst="line">
            <a:avLst/>
          </a:prstGeom>
          <a:noFill/>
          <a:ln w="15240">
            <a:solidFill>
              <a:srgbClr val="4A9AB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3898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D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69164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style, emotion, pacing, and character — controlled entirely through the instruct= field of the ChatML prompt. Plain English. No SSML tags, no one-hot emotion vectors, no style transfer models.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11480" y="239572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AA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instruct= values: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1480" y="2688336"/>
            <a:ext cx="4114800" cy="329184"/>
          </a:xfrm>
          <a:prstGeom prst="rect">
            <a:avLst/>
          </a:prstGeom>
          <a:solidFill>
            <a:srgbClr val="1E3040"/>
          </a:solidFill>
          <a:ln w="7620">
            <a:solidFill>
              <a:srgbClr val="4A9AB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271576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9A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"Very happy."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11480" y="3072384"/>
            <a:ext cx="4114800" cy="329184"/>
          </a:xfrm>
          <a:prstGeom prst="rect">
            <a:avLst/>
          </a:prstGeom>
          <a:solidFill>
            <a:srgbClr val="1E3040"/>
          </a:solidFill>
          <a:ln w="7620">
            <a:solidFill>
              <a:srgbClr val="E8B84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309981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B8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"Speak slowly and gravely, like a senior professor."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11480" y="3456432"/>
            <a:ext cx="4114800" cy="329184"/>
          </a:xfrm>
          <a:prstGeom prst="rect">
            <a:avLst/>
          </a:prstGeom>
          <a:solidFill>
            <a:srgbClr val="1E3040"/>
          </a:solidFill>
          <a:ln w="7620">
            <a:solidFill>
              <a:srgbClr val="5A808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348386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"Male voice, 17 years old, gaining confidence mid-sentence."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11480" y="3840480"/>
            <a:ext cx="4114800" cy="329184"/>
          </a:xfrm>
          <a:prstGeom prst="rect">
            <a:avLst/>
          </a:prstGeom>
          <a:solidFill>
            <a:srgbClr val="1E3040"/>
          </a:solidFill>
          <a:ln w="7620">
            <a:solidFill>
              <a:srgbClr val="5AB88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38679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B8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"Whisper the last sentence dramatically."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11480" y="4315968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AA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LM inherits text comprehension from Qwen3 pretraining — it simply understands these instructions as language and conditions its output accordingly.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709160" y="1234439"/>
            <a:ext cx="4023360" cy="3824627"/>
          </a:xfrm>
          <a:prstGeom prst="rect">
            <a:avLst/>
          </a:prstGeom>
          <a:solidFill>
            <a:srgbClr val="0A1520"/>
          </a:solidFill>
          <a:ln w="10160">
            <a:solidFill>
              <a:srgbClr val="2E4F6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09160" y="1234439"/>
            <a:ext cx="4023360" cy="54864"/>
          </a:xfrm>
          <a:prstGeom prst="rect">
            <a:avLst/>
          </a:prstGeom>
          <a:solidFill>
            <a:srgbClr val="4A9AB5"/>
          </a:solidFill>
          <a:ln w="12700">
            <a:solidFill>
              <a:srgbClr val="4A9AB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73752" y="1481328"/>
            <a:ext cx="3767328" cy="33832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800" dirty="0">
                <a:solidFill>
                  <a:srgbClr val="A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Mode 1 — in-context voice clone</a:t>
            </a:r>
            <a:endParaRPr lang="en-US" sz="8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800" dirty="0">
                <a:solidFill>
                  <a:srgbClr val="A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 = format_chatml(</a:t>
            </a:r>
            <a:endParaRPr lang="en-US" sz="8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800" dirty="0">
                <a:solidFill>
                  <a:srgbClr val="A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system='You are a TTS model.',</a:t>
            </a:r>
            <a:endParaRPr lang="en-US" sz="8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800" dirty="0">
                <a:solidFill>
                  <a:srgbClr val="A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instruct='Very happy.',</a:t>
            </a:r>
            <a:endParaRPr lang="en-US" sz="8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800" dirty="0">
                <a:solidFill>
                  <a:srgbClr val="A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user=[</a:t>
            </a:r>
            <a:endParaRPr lang="en-US" sz="8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800" dirty="0">
                <a:solidFill>
                  <a:srgbClr val="A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encode_audio(reference_wav),</a:t>
            </a:r>
            <a:endParaRPr lang="en-US" sz="8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800" dirty="0">
                <a:solidFill>
                  <a:srgbClr val="A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'[ref transcript here]',</a:t>
            </a:r>
            <a:endParaRPr lang="en-US" sz="8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800" dirty="0">
                <a:solidFill>
                  <a:srgbClr val="A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text_to_synthesize,</a:t>
            </a:r>
            <a:endParaRPr lang="en-US" sz="8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800" dirty="0">
                <a:solidFill>
                  <a:srgbClr val="A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</a:t>
            </a:r>
            <a:endParaRPr lang="en-US" sz="8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800" dirty="0">
                <a:solidFill>
                  <a:srgbClr val="A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800" dirty="0">
                <a:solidFill>
                  <a:srgbClr val="A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tokens = LM_generate(prompt)</a:t>
            </a:r>
            <a:endParaRPr lang="en-US" sz="8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800" dirty="0">
                <a:solidFill>
                  <a:srgbClr val="A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audio  = codec_decoder(tokens)</a:t>
            </a:r>
            <a:endParaRPr lang="en-US" sz="800" dirty="0"/>
          </a:p>
          <a:p>
            <a:pPr marL="0" indent="0">
              <a:lnSpc>
                <a:spcPct val="140000"/>
              </a:lnSpc>
              <a:buNone/>
            </a:pPr>
            <a:endParaRPr lang="en-US" sz="8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800" dirty="0">
                <a:solidFill>
                  <a:srgbClr val="A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Mode 2 — x-vector fast clone</a:t>
            </a:r>
            <a:endParaRPr lang="en-US" sz="8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800" dirty="0">
                <a:solidFill>
                  <a:srgbClr val="A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spk = speaker_encoder(reference_wav)</a:t>
            </a:r>
            <a:endParaRPr lang="en-US" sz="8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800" dirty="0">
                <a:solidFill>
                  <a:srgbClr val="A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 = format_chatml(</a:t>
            </a:r>
            <a:endParaRPr lang="en-US" sz="8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800" dirty="0">
                <a:solidFill>
                  <a:srgbClr val="A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instruct='Gruff voice.',</a:t>
            </a:r>
            <a:endParaRPr lang="en-US" sz="8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800" dirty="0">
                <a:solidFill>
                  <a:srgbClr val="A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user=[spk_embedding_tokens,</a:t>
            </a:r>
            <a:endParaRPr lang="en-US" sz="8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800" dirty="0">
                <a:solidFill>
                  <a:srgbClr val="A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text_to_synthesize]</a:t>
            </a:r>
            <a:endParaRPr lang="en-US" sz="8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800" dirty="0">
                <a:solidFill>
                  <a:srgbClr val="A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800" dirty="0">
                <a:solidFill>
                  <a:srgbClr val="A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~10 prefix tokens vs ~188 in Mode 1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624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A9AB5"/>
          </a:solidFill>
          <a:ln w="12700">
            <a:solidFill>
              <a:srgbClr val="4A9AB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0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0" dirty="0">
                <a:solidFill>
                  <a:srgbClr val="2438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411250" y="2635678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Performance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11250" y="373295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8AA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Benchmarks, latency numbers, and real-world inference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07745" y="2750001"/>
            <a:ext cx="2286000" cy="0"/>
          </a:xfrm>
          <a:prstGeom prst="line">
            <a:avLst/>
          </a:prstGeom>
          <a:noFill/>
          <a:ln w="19050">
            <a:solidFill>
              <a:srgbClr val="4A9AB5"/>
            </a:solidFill>
            <a:prstDash val="solid"/>
          </a:ln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C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182880"/>
            <a:ext cx="1463040" cy="256032"/>
          </a:xfrm>
          <a:prstGeom prst="rect">
            <a:avLst/>
          </a:prstGeom>
          <a:solidFill>
            <a:srgbClr val="4A9AB5"/>
          </a:solidFill>
          <a:ln w="12700">
            <a:solidFill>
              <a:srgbClr val="4A9AB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828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F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4864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Numbers that matter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8321040" cy="0"/>
          </a:xfrm>
          <a:prstGeom prst="line">
            <a:avLst/>
          </a:prstGeom>
          <a:noFill/>
          <a:ln w="15240">
            <a:solidFill>
              <a:srgbClr val="4A9AB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371600"/>
            <a:ext cx="1828800" cy="1005840"/>
          </a:xfrm>
          <a:prstGeom prst="rect">
            <a:avLst/>
          </a:prstGeom>
          <a:solidFill>
            <a:srgbClr val="243850"/>
          </a:solidFill>
          <a:ln w="10160">
            <a:solidFill>
              <a:srgbClr val="4A9AB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41732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4A9AB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97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11480" y="20299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kern="0" spc="100" dirty="0">
                <a:solidFill>
                  <a:srgbClr val="8AA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 FIRST PACKET</a:t>
            </a:r>
            <a:endParaRPr lang="en-US" sz="850" dirty="0"/>
          </a:p>
          <a:p>
            <a:pPr marL="0" indent="0" algn="ctr">
              <a:buNone/>
            </a:pPr>
            <a:r>
              <a:rPr lang="en-US" sz="850" kern="0" spc="100" dirty="0">
                <a:solidFill>
                  <a:srgbClr val="8AA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(12Hz 0.6B)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359152" y="1371600"/>
            <a:ext cx="1828800" cy="1005840"/>
          </a:xfrm>
          <a:prstGeom prst="rect">
            <a:avLst/>
          </a:prstGeom>
          <a:solidFill>
            <a:srgbClr val="243850"/>
          </a:solidFill>
          <a:ln w="10160">
            <a:solidFill>
              <a:srgbClr val="4A9AB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59152" y="141732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4A9AB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1.24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2359152" y="20299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kern="0" spc="100" dirty="0">
                <a:solidFill>
                  <a:srgbClr val="8AA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 TEST-EN</a:t>
            </a:r>
            <a:endParaRPr lang="en-US" sz="850" dirty="0"/>
          </a:p>
          <a:p>
            <a:pPr marL="0" indent="0" algn="ctr">
              <a:buNone/>
            </a:pPr>
            <a:r>
              <a:rPr lang="en-US" sz="850" kern="0" spc="100" dirty="0">
                <a:solidFill>
                  <a:srgbClr val="8AA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(Seed-TTS)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306824" y="1371600"/>
            <a:ext cx="1828800" cy="1005840"/>
          </a:xfrm>
          <a:prstGeom prst="rect">
            <a:avLst/>
          </a:prstGeom>
          <a:solidFill>
            <a:srgbClr val="243850"/>
          </a:solidFill>
          <a:ln w="10160">
            <a:solidFill>
              <a:srgbClr val="4A9AB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06824" y="141732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4A9AB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4306824" y="20299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kern="0" spc="100" dirty="0">
                <a:solidFill>
                  <a:srgbClr val="8AA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LANGUAGES</a:t>
            </a:r>
            <a:endParaRPr lang="en-US" sz="850" dirty="0"/>
          </a:p>
          <a:p>
            <a:pPr marL="0" indent="0" algn="ctr">
              <a:buNone/>
            </a:pPr>
            <a:r>
              <a:rPr lang="en-US" sz="850" kern="0" spc="100" dirty="0">
                <a:solidFill>
                  <a:srgbClr val="8AA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254496" y="1371600"/>
            <a:ext cx="1828800" cy="1005840"/>
          </a:xfrm>
          <a:prstGeom prst="rect">
            <a:avLst/>
          </a:prstGeom>
          <a:solidFill>
            <a:srgbClr val="243850"/>
          </a:solidFill>
          <a:ln w="10160">
            <a:solidFill>
              <a:srgbClr val="4A9AB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54496" y="141732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4A9AB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4–6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6254496" y="20299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kern="0" spc="100" dirty="0">
                <a:solidFill>
                  <a:srgbClr val="8AA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 VRAM</a:t>
            </a:r>
            <a:endParaRPr lang="en-US" sz="850" dirty="0"/>
          </a:p>
          <a:p>
            <a:pPr marL="0" indent="0" algn="ctr">
              <a:buNone/>
            </a:pPr>
            <a:r>
              <a:rPr lang="en-US" sz="850" kern="0" spc="100" dirty="0">
                <a:solidFill>
                  <a:srgbClr val="8AA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(1.7B MODEL)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11480" y="254203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D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Seed-TTS Benchmark — WER (↓ lower is better)</a:t>
            </a:r>
            <a:endParaRPr lang="en-US" sz="11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834640"/>
          <a:ext cx="8321040" cy="2176272"/>
        </p:xfrm>
        <a:graphic>
          <a:graphicData uri="http://schemas.openxmlformats.org/drawingml/2006/table">
            <a:tbl>
              <a:tblPr/>
              <a:tblGrid>
                <a:gridCol w="20802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02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02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02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F1C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9AB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F1C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test-zh WER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9AB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F1C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test-en WER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9AB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F1C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9AB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8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Qwen3-TTS-12Hz-1.7B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8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8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1.24 ★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8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SOTA on test-en (open-weights)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8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CosyVoice 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8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8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8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Slight edge on test-zh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8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MiniMax-Speech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8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8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8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Commercial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8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F5-TTS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8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8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8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Open-source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8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ElevenLabs Multilingual v2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8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8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2.14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8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Commercial, weak on zh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8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Seed-TTS (reference)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8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8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2.25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8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Proprietary reference model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C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182880"/>
            <a:ext cx="1463040" cy="256032"/>
          </a:xfrm>
          <a:prstGeom prst="rect">
            <a:avLst/>
          </a:prstGeom>
          <a:solidFill>
            <a:srgbClr val="4A9AB5"/>
          </a:solidFill>
          <a:ln w="12700">
            <a:solidFill>
              <a:srgbClr val="4A9AB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828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F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4864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Streaming latency — official benchmarks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8321040" cy="0"/>
          </a:xfrm>
          <a:prstGeom prst="line">
            <a:avLst/>
          </a:prstGeom>
          <a:noFill/>
          <a:ln w="15240">
            <a:solidFill>
              <a:srgbClr val="4A9AB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353312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AA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on internal vLLM engine with torch.compile + CUDA Graph acceleration. RTF &lt; 1.0 = faster than real-time.</a:t>
            </a:r>
            <a:endParaRPr lang="en-US" sz="11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737360"/>
          <a:ext cx="8321040" cy="3072384"/>
        </p:xfrm>
        <a:graphic>
          <a:graphicData uri="http://schemas.openxmlformats.org/drawingml/2006/table">
            <a:tbl>
              <a:tblPr/>
              <a:tblGrid>
                <a:gridCol w="1386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86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86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86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86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868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F1C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9AB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F1C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Concurrency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9AB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F1C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LM TTFP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9AB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F1C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Tokenizer TPP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9AB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F1C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First-Packet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9AB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F1C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RTF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9AB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8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12Hz-1.7B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8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8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 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8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8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101 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8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0.313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8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12Hz-1.7B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8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8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190 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8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8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195 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8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0.363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8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12Hz-1.7B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8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8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328 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8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8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333 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8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0.463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8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12Hz-0.6B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8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8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 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8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8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 ms 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8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0.288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8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12Hz-0.6B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8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8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174 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8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8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179 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8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0.338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8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25Hz-1.7B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8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8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125 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8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 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8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 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8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8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25Hz-0.6B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8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8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113 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8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 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8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138 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8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0.234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E4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11480" y="475488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AA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TTFP = Time To First Packet (LM).   TPP = Time Per Packet (steady-state).   RTF = Real-Time Factor (lower = faster than real-time).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C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182880"/>
            <a:ext cx="1463040" cy="256032"/>
          </a:xfrm>
          <a:prstGeom prst="rect">
            <a:avLst/>
          </a:prstGeom>
          <a:solidFill>
            <a:srgbClr val="4A9AB5"/>
          </a:solidFill>
          <a:ln w="12700">
            <a:solidFill>
              <a:srgbClr val="4A9AB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828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F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4864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Known limitations &amp; failure modes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8321040" cy="0"/>
          </a:xfrm>
          <a:prstGeom prst="line">
            <a:avLst/>
          </a:prstGeom>
          <a:noFill/>
          <a:ln w="15240">
            <a:solidFill>
              <a:srgbClr val="4A9AB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371600"/>
            <a:ext cx="4206240" cy="1170432"/>
          </a:xfrm>
          <a:prstGeom prst="rect">
            <a:avLst/>
          </a:prstGeom>
          <a:solidFill>
            <a:srgbClr val="1E3040"/>
          </a:solidFill>
          <a:ln w="10160">
            <a:solidFill>
              <a:srgbClr val="2E4F6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371600"/>
            <a:ext cx="54864" cy="1170432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6072" y="14630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Infinite loop / no EOS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76072" y="1755648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rare inputs the model fails to emit an end-of-sequence token and generates audio indefinitely. A timeout guard is recommended in production.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818888" y="1371600"/>
            <a:ext cx="4206240" cy="1170432"/>
          </a:xfrm>
          <a:prstGeom prst="rect">
            <a:avLst/>
          </a:prstGeom>
          <a:solidFill>
            <a:srgbClr val="1E3040"/>
          </a:solidFill>
          <a:ln w="10160">
            <a:solidFill>
              <a:srgbClr val="2E4F6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18888" y="1371600"/>
            <a:ext cx="54864" cy="1170432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83480" y="14630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Emotional outbursts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983480" y="1755648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long-form synthesis (5–10+ min) the model occasionally injects unexpected laughter, sighing, or humming into otherwise normal speech.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11480" y="2633472"/>
            <a:ext cx="4206240" cy="1170432"/>
          </a:xfrm>
          <a:prstGeom prst="rect">
            <a:avLst/>
          </a:prstGeom>
          <a:solidFill>
            <a:srgbClr val="1E3040"/>
          </a:solidFill>
          <a:ln w="10160">
            <a:solidFill>
              <a:srgbClr val="2E4F6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480" y="2633472"/>
            <a:ext cx="54864" cy="1170432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6072" y="27249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Accent bleed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76072" y="3017520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Low-resource languages (French, Spanish, Italian) can inherit a Chinese or American accent from the dominant training distribution.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818888" y="2633472"/>
            <a:ext cx="4206240" cy="1170432"/>
          </a:xfrm>
          <a:prstGeom prst="rect">
            <a:avLst/>
          </a:prstGeom>
          <a:solidFill>
            <a:srgbClr val="1E3040"/>
          </a:solidFill>
          <a:ln w="10160">
            <a:solidFill>
              <a:srgbClr val="2E4F6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18888" y="2633472"/>
            <a:ext cx="54864" cy="1170432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83480" y="27249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 control ignored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983480" y="3017520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Instructions like 'finish within 5 seconds' have no effect. The model determines its own pacing from prosody learned during training.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11480" y="3895344"/>
            <a:ext cx="4206240" cy="1170432"/>
          </a:xfrm>
          <a:prstGeom prst="rect">
            <a:avLst/>
          </a:prstGeom>
          <a:solidFill>
            <a:srgbClr val="1E3040"/>
          </a:solidFill>
          <a:ln w="10160">
            <a:solidFill>
              <a:srgbClr val="2E4F6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11480" y="3895344"/>
            <a:ext cx="54864" cy="1170432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76072" y="398678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97ms needs ideal infrastructure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76072" y="4279392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headline latency requires vLLM with torch.compile + CUDA Graph. On consumer GPUs (RTX 3090) without these, RTF is ~0.87; on GTX 1080 it can be &gt; 1.5×.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818888" y="3895344"/>
            <a:ext cx="4206240" cy="1170432"/>
          </a:xfrm>
          <a:prstGeom prst="rect">
            <a:avLst/>
          </a:prstGeom>
          <a:solidFill>
            <a:srgbClr val="1E3040"/>
          </a:solidFill>
          <a:ln w="10160">
            <a:solidFill>
              <a:srgbClr val="2E4F6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818888" y="3895344"/>
            <a:ext cx="54864" cy="1170432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83480" y="398678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25Hz weights incomplete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983480" y="4279392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25Hz model family is described in the paper but only partially open-sourced. The DiT decoder weights are 'coming soon'.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624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4A9AB5"/>
          </a:solidFill>
          <a:ln w="12700">
            <a:solidFill>
              <a:srgbClr val="4A9AB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4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to remember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502920" y="1389888"/>
            <a:ext cx="2743200" cy="0"/>
          </a:xfrm>
          <a:prstGeom prst="line">
            <a:avLst/>
          </a:prstGeom>
          <a:noFill/>
          <a:ln w="19050">
            <a:solidFill>
              <a:srgbClr val="4A9AB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508760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4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IDEAS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1783080"/>
            <a:ext cx="5029200" cy="0"/>
          </a:xfrm>
          <a:prstGeom prst="line">
            <a:avLst/>
          </a:prstGeom>
          <a:noFill/>
          <a:ln w="6350">
            <a:solidFill>
              <a:srgbClr val="2E4F6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810512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TTS is now just LLM + speech vocabulary — same transformer, different output tokens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02920" y="2240280"/>
            <a:ext cx="5029200" cy="0"/>
          </a:xfrm>
          <a:prstGeom prst="line">
            <a:avLst/>
          </a:prstGeom>
          <a:noFill/>
          <a:ln w="6350">
            <a:solidFill>
              <a:srgbClr val="2E4F6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267712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Dual-track channel concat enables streaming — audio starts at frame 1, not after all text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02920" y="2697480"/>
            <a:ext cx="5029200" cy="0"/>
          </a:xfrm>
          <a:prstGeom prst="line">
            <a:avLst/>
          </a:prstGeom>
          <a:noFill/>
          <a:ln w="6350">
            <a:solidFill>
              <a:srgbClr val="2E4F6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724912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Codebook 0 = semantic (WHAT); CBs 1–15 = acoustic residuals (HOW it sounds)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2920" y="3154680"/>
            <a:ext cx="5029200" cy="0"/>
          </a:xfrm>
          <a:prstGeom prst="line">
            <a:avLst/>
          </a:prstGeom>
          <a:noFill/>
          <a:ln w="6350">
            <a:solidFill>
              <a:srgbClr val="2E4F6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182112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MTP head predicts CBs 1–15 in parallel — 10–15× fewer compute ops per frame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02920" y="3611880"/>
            <a:ext cx="5029200" cy="0"/>
          </a:xfrm>
          <a:prstGeom prst="line">
            <a:avLst/>
          </a:prstGeom>
          <a:noFill/>
          <a:ln w="6350">
            <a:solidFill>
              <a:srgbClr val="2E4F6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639312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6-stage training: S1/S2/S3 pretraining → P1 DPO → P2 GSPO → P3 speaker SFT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02920" y="4069080"/>
            <a:ext cx="5029200" cy="0"/>
          </a:xfrm>
          <a:prstGeom prst="line">
            <a:avLst/>
          </a:prstGeom>
          <a:noFill/>
          <a:ln w="6350">
            <a:solidFill>
              <a:srgbClr val="2E4F6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4096512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Voice cloning = in-context learning — prepend reference audio to the LM prompt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02920" y="4526280"/>
            <a:ext cx="5029200" cy="0"/>
          </a:xfrm>
          <a:prstGeom prst="line">
            <a:avLst/>
          </a:prstGeom>
          <a:noFill/>
          <a:ln w="6350">
            <a:solidFill>
              <a:srgbClr val="2E4F6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4553712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Style control = plain text in the instruct= field — no tags, no special encoding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669280" y="1481328"/>
            <a:ext cx="3063240" cy="3383280"/>
          </a:xfrm>
          <a:prstGeom prst="rect">
            <a:avLst/>
          </a:prstGeom>
          <a:solidFill>
            <a:srgbClr val="1E3040"/>
          </a:solidFill>
          <a:ln w="10160">
            <a:solidFill>
              <a:srgbClr val="2E4F6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33872" y="157276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4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833872" y="190195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D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720840" y="1901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arXiv: 2601.15621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833872" y="23774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D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720840" y="2377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QwenLM/Qwen3-TTS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833872" y="285292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D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HuggingFace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720840" y="28529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Qwen/Qwen3-TTS-12Hz-1.7B-Base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833872" y="3328416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D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Blog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720840" y="332841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qwen.ai/blog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</TotalTime>
  <Words>2885</Words>
  <Application>Microsoft Office PowerPoint</Application>
  <PresentationFormat>On-screen Show (16:9)</PresentationFormat>
  <Paragraphs>492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Laxmi Kant Tiwari</cp:lastModifiedBy>
  <cp:revision>3</cp:revision>
  <dcterms:created xsi:type="dcterms:W3CDTF">2026-05-28T10:18:48Z</dcterms:created>
  <dcterms:modified xsi:type="dcterms:W3CDTF">2026-05-28T12:37:07Z</dcterms:modified>
</cp:coreProperties>
</file>